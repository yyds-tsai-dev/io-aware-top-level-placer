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開場：題目是 10M–30M cell 的 top-level placement，region 幾何由設計者給定，目標是最小化跨 region 的 IO 穿越數與 pure feed-through 數（都是「計數」而非線長），在 DREAMPlace 上用 GPU 完成。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今天四個部分：先盤點七篇相關工作（含老師指定的 GrandPlan 與 ASP-DAC'24 那篇），再講 benchmark 階梯、演算法流程與 M0/M1 現況，最後是兩個實驗設計。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用右邊的圖解釋兩個指標：橙點是 tree edge 穿越 region 邊界（IO）；紅色 net 從 R3 繞到 R2，途中穿過沒有 pin 的 R4，那一段就是 pure feed-through。強調：我們優化的是離散計數，region 幾何不動，動的是每顆 cell（亦即 block 歸屬）。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定位：兩條線——模組粒度的 FT-aware 規劃（決定幾何）與 cell 粒度的 GPU 引擎（不懂 IO/FT）。我們做的是交集：幾何固定、優化離散計數、cell 粒度、3000萬規模。兩個 novelty claim：可微分 pure-FT 模型與 MST tree-crossing evaluator。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最接近的對手（NVIDIA）。差異要講清楚：他們連 region 幾何一起優化、目標是跨區線長；我們 region 固定、目標是計數（IO/FT）。風險：題目碰撞 → 盡快把 M1/M2 證據發表出去。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老師指定的第二篇。它證明「在 GP 裡放 tree-topology 目標」可行，和我們的 MST-crossing 回饋同一個精神；但它優化的是 routed WL，沒有 region 概念。可順帶提 2025 年的 looking-ahead 期刊擴充版。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重點：FT 的定義——穿過模組的連線要在模組內部加 buffer 和 port，傷 routability 與 timing。這是我們 pure-FT 指標的工業動機。層級在我們上方（floorplan），互補不衝突。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第三篇 FT 系譜：Flora 把 floorplan 與 placement 耦合，前瞻性和 GrandPlan 同方向；但仍是模組粒度。FTpin/FTmod 的指標切法可以引用來對照我們的 per-net 計數。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這篇是產業證詞：FT 直接影響 die area 與 turnaround。定位：他們在下游插 FT，我們在上游減少 FT 的需求。也呼應我們 channelless 設定以外的 channel-based 變體（Phase 2 的 cost-model switch）。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這篇支持我們的 benchmark 前提：RTL 階層就是天然的 region 邊界（tile/group/cluster）。它自己是 macro 粒度、沒有 IO/FT 計數目標。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DREAMPlace 家族是引擎：1.0 給 GPU 規模，3.0 給 fence-region 機制（two-stage baseline 用），4.0 給 net-weighting 機制（M1 reweighting 借用）。我們對 fork 只加了 5 行 iteration callback 與 shapely 相容兩個 patch。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誠實說明：目前實際跑過的只有 adaptec1 與 bigblue4；10M 的 mempool_cluster 已下載在手（46GB），30M 要自己組。重點在 realism gate：不能盲目複製，要過 Rent exponent 檢查，否則 IO 會假性歸零。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歸屬關係要講清楚：五格裡只有 stage 1 在 DREAMPlace（我們的 fork：加目標項 + 5 行 iteration callback）；stage 0/2/3/4 都是我們自己的 code。Evaluator 每 50–100 iteration 介入一次（開銷 &lt;2.5%），是回饋訊號（報表 + λ 正規化 + per-net 權重），不是「IO 達門檻就停」的檢查——停止仍由 DREAMPlace 收斂決定。GP 產出的是 softmax 軟歸屬，所以需要 decode（軟→硬指派）與 refine（邊界模糊 cell 清理），這兩步是 M2 之後的我們的規劃。最後的 per-region Innovus P&amp;R 是下游實作/驗證，即 Exp 1。設計選擇：region 幾何固定 + 位置誘導歸屬 ⇒ 主流程一個 global density field 就夠。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這頁是核心：M1 的負面結果要誠實講——reweighting 只壓得了 FT（路徑緊實度），壓不動 IO（離散歸屬），而且單 seed 噪聲 ±1% 比效果大一個量級。這直接導出 M2 要給「哪個 region」一個可微分的梯度。M0 的發現：問題不在 partition 品質，在 cut→幾何 crossing 的轉換損失。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實驗一（提案，repo 尚無 Innovus flow）：設計者給定 region 與歸屬當 baseline；我們只重新決定「哪個 block 放哪個 region」，幾何與 P&amp;R 腳本完全不動，再用同一套 Innovus 流程比 QoR。關鍵公平性：per-region utilization 要鎖住，否則贏的可能是容積重分配而非 IO-awareness。需要老師協助：有 designer floorplan 的 testcase 與 Innovus license。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實驗二：跟完全不看 region 的 flat DREAMPlace 比（另加 two-stage 當中間梯）。現有數據誠實呈現：FT 大降 49% 但 IO 持平（單 seed，噪聲 ±1%）；M2 才是要壓 IO 的機制。強調公平性協定：同 config、同 iteration 預算、region 跑前凍結、报 Pareto 而非單點。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結尾：三個請求——Innovus testcase、H100 時段、benchmark 公信力計畫的意見。若老師問進度風險：最大風險是與 NVIDIA GrandPlan 的題目碰撞，因此 M1/M2 的證據要盡快成型。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PLAIN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7A9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17043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REPORT · AUGUST 2026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517904"/>
            <a:ext cx="6766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IO-Aware Top-Level Placement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83464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global placement for 10M–30M-cell designs that minimizes cross-region IO and pure feed-throughs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539496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DREAMPlace-based · dev on NVIDIA L4, target H100 · Phase 1: fixed regions, count-based objectives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470648" y="1207008"/>
            <a:ext cx="4261104" cy="4261104"/>
          </a:xfrm>
          <a:prstGeom prst="roundRect">
            <a:avLst>
              <a:gd name="adj" fmla="val 2146"/>
            </a:avLst>
          </a:prstGeom>
          <a:solidFill>
            <a:srgbClr val="1D2C52"/>
          </a:solidFill>
          <a:ln w="19050">
            <a:solidFill>
              <a:srgbClr val="3A4A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35240" y="1371600"/>
            <a:ext cx="1965960" cy="1965960"/>
          </a:xfrm>
          <a:prstGeom prst="rect">
            <a:avLst/>
          </a:prstGeom>
          <a:solidFill>
            <a:srgbClr val="457B9D">
              <a:alpha val="5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646920" y="1371600"/>
            <a:ext cx="1920240" cy="1965960"/>
          </a:xfrm>
          <a:prstGeom prst="rect">
            <a:avLst/>
          </a:prstGeom>
          <a:solidFill>
            <a:srgbClr val="2A9D8F">
              <a:alpha val="5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635240" y="3383280"/>
            <a:ext cx="1325880" cy="1920240"/>
          </a:xfrm>
          <a:prstGeom prst="rect">
            <a:avLst/>
          </a:prstGeom>
          <a:solidFill>
            <a:srgbClr val="E76F51">
              <a:alpha val="5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006840" y="3383280"/>
            <a:ext cx="2560320" cy="1920240"/>
          </a:xfrm>
          <a:prstGeom prst="rect">
            <a:avLst/>
          </a:prstGeom>
          <a:solidFill>
            <a:srgbClr val="FCA311">
              <a:alpha val="5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0" y="2240280"/>
            <a:ext cx="2286000" cy="0"/>
          </a:xfrm>
          <a:prstGeom prst="line">
            <a:avLst/>
          </a:prstGeom>
          <a:noFill/>
          <a:ln w="3175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515600" y="2240280"/>
            <a:ext cx="0" cy="2194560"/>
          </a:xfrm>
          <a:prstGeom prst="line">
            <a:avLst/>
          </a:prstGeom>
          <a:noFill/>
          <a:ln w="3175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515600" y="4434840"/>
            <a:ext cx="685800" cy="0"/>
          </a:xfrm>
          <a:prstGeom prst="line">
            <a:avLst/>
          </a:prstGeom>
          <a:noFill/>
          <a:ln w="3175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74736" y="2185416"/>
            <a:ext cx="109728" cy="1097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11146536" y="4379976"/>
            <a:ext cx="109728" cy="1097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9523476" y="2162556"/>
            <a:ext cx="155448" cy="155448"/>
          </a:xfrm>
          <a:prstGeom prst="ellipse">
            <a:avLst/>
          </a:prstGeom>
          <a:solidFill>
            <a:srgbClr val="FCA311"/>
          </a:solidFill>
          <a:ln w="15875">
            <a:solidFill>
              <a:srgbClr val="1421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437876" y="3305556"/>
            <a:ext cx="155448" cy="155448"/>
          </a:xfrm>
          <a:prstGeom prst="ellipse">
            <a:avLst/>
          </a:prstGeom>
          <a:solidFill>
            <a:srgbClr val="FCA311"/>
          </a:solidFill>
          <a:ln w="15875">
            <a:solidFill>
              <a:srgbClr val="14213D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1356848" y="310896"/>
            <a:ext cx="183383" cy="183383"/>
          </a:xfrm>
          <a:prstGeom prst="rect">
            <a:avLst/>
          </a:prstGeom>
          <a:solidFill>
            <a:srgbClr val="457B9D"/>
          </a:solidFill>
          <a:ln/>
        </p:spPr>
      </p:sp>
      <p:sp>
        <p:nvSpPr>
          <p:cNvPr id="5" name="Shape 3"/>
          <p:cNvSpPr/>
          <p:nvPr/>
        </p:nvSpPr>
        <p:spPr>
          <a:xfrm>
            <a:off x="11557513" y="310896"/>
            <a:ext cx="183383" cy="183383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6" name="Shape 4"/>
          <p:cNvSpPr/>
          <p:nvPr/>
        </p:nvSpPr>
        <p:spPr>
          <a:xfrm>
            <a:off x="11356848" y="511561"/>
            <a:ext cx="183383" cy="183383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7" name="Shape 5"/>
          <p:cNvSpPr/>
          <p:nvPr/>
        </p:nvSpPr>
        <p:spPr>
          <a:xfrm>
            <a:off x="11557513" y="511561"/>
            <a:ext cx="183383" cy="183383"/>
          </a:xfrm>
          <a:prstGeom prst="rect">
            <a:avLst/>
          </a:prstGeom>
          <a:solidFill>
            <a:srgbClr val="FCA311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600200"/>
            <a:ext cx="475488" cy="475488"/>
          </a:xfrm>
          <a:prstGeom prst="ellipse">
            <a:avLst/>
          </a:prstGeom>
          <a:solidFill>
            <a:srgbClr val="14213D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600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234440" y="1572768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Works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234440" y="1901952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C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papers · feed-through-aware planning line + GPU analytical placement line, one slide each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679192"/>
            <a:ext cx="475488" cy="475488"/>
          </a:xfrm>
          <a:prstGeom prst="ellipse">
            <a:avLst/>
          </a:prstGeom>
          <a:solidFill>
            <a:srgbClr val="14213D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6791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234440" y="2651760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234440" y="2980944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C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1M / 5M / 10M / 30M ladder, region overlay, and realism gates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758184"/>
            <a:ext cx="475488" cy="475488"/>
          </a:xfrm>
          <a:prstGeom prst="ellipse">
            <a:avLst/>
          </a:prstGeom>
          <a:solidFill>
            <a:srgbClr val="14213D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7581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234440" y="3730752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Flow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234440" y="4059936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C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Phase-1 pipeline + what M0/M1 already built and taught us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837176"/>
            <a:ext cx="475488" cy="475488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8371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234440" y="4809744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234440" y="5138928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C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comparison tracks: per-region commercial P&amp;R, and flat DREAMPlace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595360" y="2148840"/>
            <a:ext cx="1135228" cy="1135228"/>
          </a:xfrm>
          <a:prstGeom prst="rect">
            <a:avLst/>
          </a:prstGeom>
          <a:solidFill>
            <a:srgbClr val="457B9D">
              <a:alpha val="8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9837572" y="2148840"/>
            <a:ext cx="1135228" cy="1135228"/>
          </a:xfrm>
          <a:prstGeom prst="rect">
            <a:avLst/>
          </a:prstGeom>
          <a:solidFill>
            <a:srgbClr val="2A9D8F">
              <a:alpha val="8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8595360" y="3391052"/>
            <a:ext cx="1135228" cy="1135228"/>
          </a:xfrm>
          <a:prstGeom prst="rect">
            <a:avLst/>
          </a:prstGeom>
          <a:solidFill>
            <a:srgbClr val="E76F51">
              <a:alpha val="8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9837572" y="3391052"/>
            <a:ext cx="1135228" cy="1135228"/>
          </a:xfrm>
          <a:prstGeom prst="rect">
            <a:avLst/>
          </a:prstGeom>
          <a:solidFill>
            <a:srgbClr val="FCA311">
              <a:alpha val="85000"/>
            </a:srgbClr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Formulation (Phase 1)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1356848" y="310896"/>
            <a:ext cx="183383" cy="183383"/>
          </a:xfrm>
          <a:prstGeom prst="rect">
            <a:avLst/>
          </a:prstGeom>
          <a:solidFill>
            <a:srgbClr val="457B9D"/>
          </a:solidFill>
          <a:ln/>
        </p:spPr>
      </p:sp>
      <p:sp>
        <p:nvSpPr>
          <p:cNvPr id="5" name="Shape 3"/>
          <p:cNvSpPr/>
          <p:nvPr/>
        </p:nvSpPr>
        <p:spPr>
          <a:xfrm>
            <a:off x="11557513" y="310896"/>
            <a:ext cx="183383" cy="183383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6" name="Shape 4"/>
          <p:cNvSpPr/>
          <p:nvPr/>
        </p:nvSpPr>
        <p:spPr>
          <a:xfrm>
            <a:off x="11356848" y="511561"/>
            <a:ext cx="183383" cy="183383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7" name="Shape 5"/>
          <p:cNvSpPr/>
          <p:nvPr/>
        </p:nvSpPr>
        <p:spPr>
          <a:xfrm>
            <a:off x="11557513" y="511561"/>
            <a:ext cx="183383" cy="183383"/>
          </a:xfrm>
          <a:prstGeom prst="rect">
            <a:avLst/>
          </a:prstGeom>
          <a:solidFill>
            <a:srgbClr val="FCA311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46304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73736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4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netlist at 10M–30M standard cells (macros fixed in Phase 1)</a:t>
            </a:r>
            <a:endParaRPr lang="en-US" sz="1250" dirty="0"/>
          </a:p>
          <a:p>
            <a:pPr algn="l" marL="127000" indent="-1270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4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4–32 exactly-abutted partition regions — geometry is a fixed input (channelless style)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269748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placement to minimize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2971800"/>
            <a:ext cx="6858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4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 count — crossings of region boundaries by each net's routing tree (MST / RSMT proxy)</a:t>
            </a:r>
            <a:endParaRPr lang="en-US" sz="1250" dirty="0"/>
          </a:p>
          <a:p>
            <a:pPr algn="l" marL="127000" indent="-1270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4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feed-throughs — tree passes a region where the net has no pin</a:t>
            </a:r>
            <a:endParaRPr lang="en-US" sz="1250" dirty="0"/>
          </a:p>
          <a:p>
            <a:pPr algn="l" marL="127000" indent="-1270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4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 while preserving wirelength (HPWL) and legality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429768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45720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4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 + induced block→region membership + per-net IO / FT report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5349240"/>
            <a:ext cx="2151400" cy="310896"/>
          </a:xfrm>
          <a:prstGeom prst="roundRect">
            <a:avLst>
              <a:gd name="adj" fmla="val 14706"/>
            </a:avLst>
          </a:prstGeom>
          <a:solidFill>
            <a:srgbClr val="FCA311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5349240"/>
            <a:ext cx="2151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Counts, not wirelength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73192" y="5349240"/>
            <a:ext cx="2827325" cy="310896"/>
          </a:xfrm>
          <a:prstGeom prst="roundRect">
            <a:avLst>
              <a:gd name="adj" fmla="val 14706"/>
            </a:avLst>
          </a:prstGeom>
          <a:solidFill>
            <a:srgbClr val="14213D"/>
          </a:solidFill>
          <a:ln/>
        </p:spPr>
      </p:sp>
      <p:sp>
        <p:nvSpPr>
          <p:cNvPr id="17" name="Text 15"/>
          <p:cNvSpPr/>
          <p:nvPr/>
        </p:nvSpPr>
        <p:spPr>
          <a:xfrm>
            <a:off x="2773192" y="5349240"/>
            <a:ext cx="282732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 fixed, membership free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765109" y="5349240"/>
            <a:ext cx="1475476" cy="310896"/>
          </a:xfrm>
          <a:prstGeom prst="roundRect">
            <a:avLst>
              <a:gd name="adj" fmla="val 14706"/>
            </a:avLst>
          </a:prstGeom>
          <a:solidFill>
            <a:srgbClr val="2A9D8F"/>
          </a:solidFill>
          <a:ln/>
        </p:spPr>
      </p:sp>
      <p:sp>
        <p:nvSpPr>
          <p:cNvPr id="19" name="Text 17"/>
          <p:cNvSpPr/>
          <p:nvPr/>
        </p:nvSpPr>
        <p:spPr>
          <a:xfrm>
            <a:off x="5765109" y="5349240"/>
            <a:ext cx="14754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end-to-end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818120" y="1417320"/>
            <a:ext cx="3566160" cy="3566160"/>
          </a:xfrm>
          <a:prstGeom prst="rect">
            <a:avLst/>
          </a:prstGeom>
          <a:solidFill>
            <a:srgbClr val="FFFFFF"/>
          </a:solidFill>
          <a:ln w="19050">
            <a:solidFill>
              <a:srgbClr val="1421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818120" y="1417320"/>
            <a:ext cx="1783080" cy="1783080"/>
          </a:xfrm>
          <a:prstGeom prst="rect">
            <a:avLst/>
          </a:prstGeom>
          <a:solidFill>
            <a:srgbClr val="457B9D">
              <a:alpha val="18000"/>
            </a:srgbClr>
          </a:solidFill>
          <a:ln w="9525">
            <a:solidFill>
              <a:srgbClr val="1421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91272" y="14630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C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601200" y="1417320"/>
            <a:ext cx="1783080" cy="1783080"/>
          </a:xfrm>
          <a:prstGeom prst="rect">
            <a:avLst/>
          </a:prstGeom>
          <a:solidFill>
            <a:srgbClr val="2A9D8F">
              <a:alpha val="18000"/>
            </a:srgbClr>
          </a:solidFill>
          <a:ln w="9525">
            <a:solidFill>
              <a:srgbClr val="1421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74352" y="14630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C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818120" y="3200400"/>
            <a:ext cx="1783080" cy="1783080"/>
          </a:xfrm>
          <a:prstGeom prst="rect">
            <a:avLst/>
          </a:prstGeom>
          <a:solidFill>
            <a:srgbClr val="E76F51">
              <a:alpha val="18000"/>
            </a:srgbClr>
          </a:solidFill>
          <a:ln w="9525">
            <a:solidFill>
              <a:srgbClr val="1421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91272" y="32461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C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601200" y="3200400"/>
            <a:ext cx="1783080" cy="1783080"/>
          </a:xfrm>
          <a:prstGeom prst="rect">
            <a:avLst/>
          </a:prstGeom>
          <a:solidFill>
            <a:srgbClr val="FCA311">
              <a:alpha val="18000"/>
            </a:srgbClr>
          </a:solidFill>
          <a:ln w="9525">
            <a:solidFill>
              <a:srgbClr val="1421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74352" y="32461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C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503920" y="2148840"/>
            <a:ext cx="2148840" cy="0"/>
          </a:xfrm>
          <a:prstGeom prst="line">
            <a:avLst/>
          </a:prstGeom>
          <a:noFill/>
          <a:ln w="28575">
            <a:solidFill>
              <a:srgbClr val="14213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652760" y="2148840"/>
            <a:ext cx="0" cy="502920"/>
          </a:xfrm>
          <a:prstGeom prst="line">
            <a:avLst/>
          </a:prstGeom>
          <a:noFill/>
          <a:ln w="28575">
            <a:solidFill>
              <a:srgbClr val="14213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453628" y="2098548"/>
            <a:ext cx="100584" cy="100584"/>
          </a:xfrm>
          <a:prstGeom prst="ellipse">
            <a:avLst/>
          </a:prstGeom>
          <a:solidFill>
            <a:srgbClr val="14213D"/>
          </a:solidFill>
          <a:ln/>
        </p:spPr>
      </p:sp>
      <p:sp>
        <p:nvSpPr>
          <p:cNvPr id="32" name="Shape 30"/>
          <p:cNvSpPr/>
          <p:nvPr/>
        </p:nvSpPr>
        <p:spPr>
          <a:xfrm>
            <a:off x="10602468" y="2601468"/>
            <a:ext cx="100584" cy="100584"/>
          </a:xfrm>
          <a:prstGeom prst="ellipse">
            <a:avLst/>
          </a:prstGeom>
          <a:solidFill>
            <a:srgbClr val="14213D"/>
          </a:solidFill>
          <a:ln/>
        </p:spPr>
      </p:sp>
      <p:sp>
        <p:nvSpPr>
          <p:cNvPr id="33" name="Shape 31"/>
          <p:cNvSpPr/>
          <p:nvPr/>
        </p:nvSpPr>
        <p:spPr>
          <a:xfrm>
            <a:off x="9528048" y="2075688"/>
            <a:ext cx="146304" cy="146304"/>
          </a:xfrm>
          <a:prstGeom prst="ellipse">
            <a:avLst/>
          </a:prstGeom>
          <a:solidFill>
            <a:srgbClr val="FCA311"/>
          </a:solidFill>
          <a:ln w="15875">
            <a:solidFill>
              <a:srgbClr val="14213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366760" y="4297680"/>
            <a:ext cx="2606040" cy="0"/>
          </a:xfrm>
          <a:prstGeom prst="line">
            <a:avLst/>
          </a:prstGeom>
          <a:noFill/>
          <a:ln w="28575">
            <a:solidFill>
              <a:srgbClr val="E76F5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972800" y="1920240"/>
            <a:ext cx="0" cy="2377440"/>
          </a:xfrm>
          <a:prstGeom prst="line">
            <a:avLst/>
          </a:prstGeom>
          <a:noFill/>
          <a:ln w="28575">
            <a:solidFill>
              <a:srgbClr val="E76F5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316468" y="4247388"/>
            <a:ext cx="100584" cy="100584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37" name="Shape 35"/>
          <p:cNvSpPr/>
          <p:nvPr/>
        </p:nvSpPr>
        <p:spPr>
          <a:xfrm>
            <a:off x="10922508" y="1869948"/>
            <a:ext cx="100584" cy="100584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38" name="Shape 36"/>
          <p:cNvSpPr/>
          <p:nvPr/>
        </p:nvSpPr>
        <p:spPr>
          <a:xfrm>
            <a:off x="9528048" y="4224528"/>
            <a:ext cx="146304" cy="146304"/>
          </a:xfrm>
          <a:prstGeom prst="ellipse">
            <a:avLst/>
          </a:prstGeom>
          <a:solidFill>
            <a:srgbClr val="FCA311"/>
          </a:solidFill>
          <a:ln w="15875">
            <a:solidFill>
              <a:srgbClr val="14213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899648" y="3127248"/>
            <a:ext cx="146304" cy="146304"/>
          </a:xfrm>
          <a:prstGeom prst="ellipse">
            <a:avLst/>
          </a:prstGeom>
          <a:solidFill>
            <a:srgbClr val="FCA311"/>
          </a:solidFill>
          <a:ln w="15875">
            <a:solidFill>
              <a:srgbClr val="14213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321040" y="5074920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feed-through: net has no pin in R4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8321040" y="5312664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57F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boundary crossing (IO)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WORKS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Research Lines — and the Gap We Target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1356848" y="310896"/>
            <a:ext cx="183383" cy="183383"/>
          </a:xfrm>
          <a:prstGeom prst="rect">
            <a:avLst/>
          </a:prstGeom>
          <a:solidFill>
            <a:srgbClr val="457B9D"/>
          </a:solidFill>
          <a:ln/>
        </p:spPr>
      </p:sp>
      <p:sp>
        <p:nvSpPr>
          <p:cNvPr id="5" name="Shape 3"/>
          <p:cNvSpPr/>
          <p:nvPr/>
        </p:nvSpPr>
        <p:spPr>
          <a:xfrm>
            <a:off x="11557513" y="310896"/>
            <a:ext cx="183383" cy="183383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6" name="Shape 4"/>
          <p:cNvSpPr/>
          <p:nvPr/>
        </p:nvSpPr>
        <p:spPr>
          <a:xfrm>
            <a:off x="11356848" y="511561"/>
            <a:ext cx="183383" cy="183383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7" name="Shape 5"/>
          <p:cNvSpPr/>
          <p:nvPr/>
        </p:nvSpPr>
        <p:spPr>
          <a:xfrm>
            <a:off x="11557513" y="511561"/>
            <a:ext cx="183383" cy="183383"/>
          </a:xfrm>
          <a:prstGeom prst="rect">
            <a:avLst/>
          </a:prstGeom>
          <a:solidFill>
            <a:srgbClr val="FCA311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481328"/>
            <a:ext cx="11274552" cy="1481328"/>
          </a:xfrm>
          <a:prstGeom prst="roundRect">
            <a:avLst>
              <a:gd name="adj" fmla="val 4938"/>
            </a:avLst>
          </a:prstGeom>
          <a:solidFill>
            <a:srgbClr val="F2F4F8"/>
          </a:solidFill>
          <a:ln/>
        </p:spPr>
      </p:sp>
      <p:sp>
        <p:nvSpPr>
          <p:cNvPr id="9" name="Text 7"/>
          <p:cNvSpPr/>
          <p:nvPr/>
        </p:nvSpPr>
        <p:spPr>
          <a:xfrm>
            <a:off x="713232" y="1627632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A · Feed-through-aware top-level planning (module granularity, ~10² blocks)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13232" y="1975104"/>
            <a:ext cx="1824960" cy="310896"/>
          </a:xfrm>
          <a:prstGeom prst="roundRect">
            <a:avLst>
              <a:gd name="adj" fmla="val 14706"/>
            </a:avLst>
          </a:prstGeom>
          <a:solidFill>
            <a:srgbClr val="457B9D"/>
          </a:solidFill>
          <a:ln/>
        </p:spPr>
      </p:sp>
      <p:sp>
        <p:nvSpPr>
          <p:cNvPr id="11" name="Text 9"/>
          <p:cNvSpPr/>
          <p:nvPr/>
        </p:nvSpPr>
        <p:spPr>
          <a:xfrm>
            <a:off x="713232" y="1975104"/>
            <a:ext cx="182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GrandPlan · ISPD'26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684496" y="1975104"/>
            <a:ext cx="1744309" cy="310896"/>
          </a:xfrm>
          <a:prstGeom prst="roundRect">
            <a:avLst>
              <a:gd name="adj" fmla="val 14706"/>
            </a:avLst>
          </a:prstGeom>
          <a:solidFill>
            <a:srgbClr val="457B9D"/>
          </a:solidFill>
          <a:ln/>
        </p:spPr>
      </p:sp>
      <p:sp>
        <p:nvSpPr>
          <p:cNvPr id="13" name="Text 11"/>
          <p:cNvSpPr/>
          <p:nvPr/>
        </p:nvSpPr>
        <p:spPr>
          <a:xfrm>
            <a:off x="2684496" y="1975104"/>
            <a:ext cx="174430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FTAFP · ASP-DAC'25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5109" y="1975104"/>
            <a:ext cx="1583009" cy="310896"/>
          </a:xfrm>
          <a:prstGeom prst="roundRect">
            <a:avLst>
              <a:gd name="adj" fmla="val 14706"/>
            </a:avLst>
          </a:prstGeom>
          <a:solidFill>
            <a:srgbClr val="457B9D"/>
          </a:solidFill>
          <a:ln/>
        </p:spPr>
      </p:sp>
      <p:sp>
        <p:nvSpPr>
          <p:cNvPr id="15" name="Text 13"/>
          <p:cNvSpPr/>
          <p:nvPr/>
        </p:nvSpPr>
        <p:spPr>
          <a:xfrm>
            <a:off x="4575109" y="1975104"/>
            <a:ext cx="158300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Flora · arXiv'25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304422" y="1975104"/>
            <a:ext cx="2147560" cy="310896"/>
          </a:xfrm>
          <a:prstGeom prst="roundRect">
            <a:avLst>
              <a:gd name="adj" fmla="val 14706"/>
            </a:avLst>
          </a:prstGeom>
          <a:solidFill>
            <a:srgbClr val="457B9D"/>
          </a:solidFill>
          <a:ln/>
        </p:spPr>
      </p:sp>
      <p:sp>
        <p:nvSpPr>
          <p:cNvPr id="17" name="Text 15"/>
          <p:cNvSpPr/>
          <p:nvPr/>
        </p:nvSpPr>
        <p:spPr>
          <a:xfrm>
            <a:off x="6304422" y="1975104"/>
            <a:ext cx="214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 insertion · ISQED'25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598286" y="1975104"/>
            <a:ext cx="1502359" cy="310896"/>
          </a:xfrm>
          <a:prstGeom prst="roundRect">
            <a:avLst>
              <a:gd name="adj" fmla="val 14706"/>
            </a:avLst>
          </a:prstGeom>
          <a:solidFill>
            <a:srgbClr val="457B9D"/>
          </a:solidFill>
          <a:ln/>
        </p:spPr>
      </p:sp>
      <p:sp>
        <p:nvSpPr>
          <p:cNvPr id="19" name="Text 17"/>
          <p:cNvSpPr/>
          <p:nvPr/>
        </p:nvSpPr>
        <p:spPr>
          <a:xfrm>
            <a:off x="8598286" y="1975104"/>
            <a:ext cx="15023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HiDaP · TCAD'21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13232" y="2395728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C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region geometry / module shapes; minimize cross-partition wirelength or module-level FT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" y="3127248"/>
            <a:ext cx="11274552" cy="1481328"/>
          </a:xfrm>
          <a:prstGeom prst="roundRect">
            <a:avLst>
              <a:gd name="adj" fmla="val 4938"/>
            </a:avLst>
          </a:prstGeom>
          <a:solidFill>
            <a:srgbClr val="F2F4F8"/>
          </a:solidFill>
          <a:ln/>
        </p:spPr>
      </p:sp>
      <p:sp>
        <p:nvSpPr>
          <p:cNvPr id="22" name="Text 20"/>
          <p:cNvSpPr/>
          <p:nvPr/>
        </p:nvSpPr>
        <p:spPr>
          <a:xfrm>
            <a:off x="713232" y="3273552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B · GPU analytical placement engines (cell granularity, 10⁶–10⁷ cells)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13232" y="3621024"/>
            <a:ext cx="2470160" cy="310896"/>
          </a:xfrm>
          <a:prstGeom prst="roundRect">
            <a:avLst>
              <a:gd name="adj" fmla="val 14706"/>
            </a:avLst>
          </a:prstGeom>
          <a:solidFill>
            <a:srgbClr val="2A9D8F"/>
          </a:solidFill>
          <a:ln/>
        </p:spPr>
      </p:sp>
      <p:sp>
        <p:nvSpPr>
          <p:cNvPr id="24" name="Text 22"/>
          <p:cNvSpPr/>
          <p:nvPr/>
        </p:nvSpPr>
        <p:spPr>
          <a:xfrm>
            <a:off x="713232" y="3621024"/>
            <a:ext cx="247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DREAMPlace · DAC'19/TCAD'21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329696" y="3621024"/>
            <a:ext cx="2550810" cy="310896"/>
          </a:xfrm>
          <a:prstGeom prst="roundRect">
            <a:avLst>
              <a:gd name="adj" fmla="val 14706"/>
            </a:avLst>
          </a:prstGeom>
          <a:solidFill>
            <a:srgbClr val="2A9D8F"/>
          </a:solidFill>
          <a:ln/>
        </p:spPr>
      </p:sp>
      <p:sp>
        <p:nvSpPr>
          <p:cNvPr id="26" name="Text 24"/>
          <p:cNvSpPr/>
          <p:nvPr/>
        </p:nvSpPr>
        <p:spPr>
          <a:xfrm>
            <a:off x="3329696" y="3621024"/>
            <a:ext cx="255081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 fence regions · ICCAD'20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026810" y="3621024"/>
            <a:ext cx="2470160" cy="310896"/>
          </a:xfrm>
          <a:prstGeom prst="roundRect">
            <a:avLst>
              <a:gd name="adj" fmla="val 14706"/>
            </a:avLst>
          </a:prstGeom>
          <a:solidFill>
            <a:srgbClr val="2A9D8F"/>
          </a:solidFill>
          <a:ln/>
        </p:spPr>
      </p:sp>
      <p:sp>
        <p:nvSpPr>
          <p:cNvPr id="28" name="Text 26"/>
          <p:cNvSpPr/>
          <p:nvPr/>
        </p:nvSpPr>
        <p:spPr>
          <a:xfrm>
            <a:off x="6026810" y="3621024"/>
            <a:ext cx="247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 net weighting · TCAD'23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643275" y="3621024"/>
            <a:ext cx="2389510" cy="310896"/>
          </a:xfrm>
          <a:prstGeom prst="roundRect">
            <a:avLst>
              <a:gd name="adj" fmla="val 14706"/>
            </a:avLst>
          </a:prstGeom>
          <a:solidFill>
            <a:srgbClr val="2A9D8F"/>
          </a:solidFill>
          <a:ln/>
        </p:spPr>
      </p:sp>
      <p:sp>
        <p:nvSpPr>
          <p:cNvPr id="30" name="Text 28"/>
          <p:cNvSpPr/>
          <p:nvPr/>
        </p:nvSpPr>
        <p:spPr>
          <a:xfrm>
            <a:off x="8643275" y="3621024"/>
            <a:ext cx="238951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RTO placement · ASP-DAC'24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13232" y="4041648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C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cells at scale on GPU; objectives are wirelength / density / timing — no cross-region IO or FT notion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57200" y="4828032"/>
            <a:ext cx="11274552" cy="1234440"/>
          </a:xfrm>
          <a:prstGeom prst="roundRect">
            <a:avLst>
              <a:gd name="adj" fmla="val 5926"/>
            </a:avLst>
          </a:prstGeom>
          <a:solidFill>
            <a:srgbClr val="14213D"/>
          </a:solidFill>
          <a:ln/>
        </p:spPr>
      </p:sp>
      <p:sp>
        <p:nvSpPr>
          <p:cNvPr id="33" name="Text 31"/>
          <p:cNvSpPr/>
          <p:nvPr/>
        </p:nvSpPr>
        <p:spPr>
          <a:xfrm>
            <a:off x="713232" y="4974336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work — the intersection neither line covers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13232" y="5266944"/>
            <a:ext cx="10744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Cell-granularity GPU placement with count-based objectives (boundary-crossing IO #, pure-FT #) under fixed region geometry at 10M–30M. Our survey found no prior differentiable pure-FT model and no per-net tree-crossing evaluator at this scale.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WORKS · 1 / 7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GrandPlan — Differentiable Top-Level Floorplanning + Partition-Level Placement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11356848" y="310896"/>
            <a:ext cx="183383" cy="183383"/>
          </a:xfrm>
          <a:prstGeom prst="rect">
            <a:avLst/>
          </a:prstGeom>
          <a:solidFill>
            <a:srgbClr val="457B9D"/>
          </a:solidFill>
          <a:ln/>
        </p:spPr>
      </p:sp>
      <p:sp>
        <p:nvSpPr>
          <p:cNvPr id="5" name="Shape 3"/>
          <p:cNvSpPr/>
          <p:nvPr/>
        </p:nvSpPr>
        <p:spPr>
          <a:xfrm>
            <a:off x="11557513" y="310896"/>
            <a:ext cx="183383" cy="183383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6" name="Shape 4"/>
          <p:cNvSpPr/>
          <p:nvPr/>
        </p:nvSpPr>
        <p:spPr>
          <a:xfrm>
            <a:off x="11356848" y="511561"/>
            <a:ext cx="183383" cy="183383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7" name="Shape 5"/>
          <p:cNvSpPr/>
          <p:nvPr/>
        </p:nvSpPr>
        <p:spPr>
          <a:xfrm>
            <a:off x="11557513" y="511561"/>
            <a:ext cx="183383" cy="183383"/>
          </a:xfrm>
          <a:prstGeom prst="rect">
            <a:avLst/>
          </a:prstGeom>
          <a:solidFill>
            <a:srgbClr val="FCA311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188720"/>
            <a:ext cx="1018459" cy="310896"/>
          </a:xfrm>
          <a:prstGeom prst="roundRect">
            <a:avLst>
              <a:gd name="adj" fmla="val 14706"/>
            </a:avLst>
          </a:prstGeom>
          <a:solidFill>
            <a:srgbClr val="14213D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188720"/>
            <a:ext cx="10184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ISPD 2026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603675" y="1188720"/>
            <a:ext cx="2470160" cy="310896"/>
          </a:xfrm>
          <a:prstGeom prst="roundRect">
            <a:avLst>
              <a:gd name="adj" fmla="val 14706"/>
            </a:avLst>
          </a:prstGeom>
          <a:solidFill>
            <a:srgbClr val="F2F4F8"/>
          </a:solidFill>
          <a:ln/>
        </p:spPr>
      </p:sp>
      <p:sp>
        <p:nvSpPr>
          <p:cNvPr id="11" name="Text 9"/>
          <p:cNvSpPr/>
          <p:nvPr/>
        </p:nvSpPr>
        <p:spPr>
          <a:xfrm>
            <a:off x="1603675" y="1188720"/>
            <a:ext cx="247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4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Research + UT Austin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0246218" y="1188720"/>
            <a:ext cx="1260409" cy="310896"/>
          </a:xfrm>
          <a:prstGeom prst="roundRect">
            <a:avLst>
              <a:gd name="adj" fmla="val 14706"/>
            </a:avLst>
          </a:prstGeom>
          <a:solidFill>
            <a:srgbClr val="FCA311"/>
          </a:solidFill>
          <a:ln/>
        </p:spPr>
      </p:sp>
      <p:sp>
        <p:nvSpPr>
          <p:cNvPr id="13" name="Text 11"/>
          <p:cNvSpPr/>
          <p:nvPr/>
        </p:nvSpPr>
        <p:spPr>
          <a:xfrm>
            <a:off x="10246218" y="1188720"/>
            <a:ext cx="126040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closest work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1700784"/>
            <a:ext cx="6812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02920" y="1975104"/>
            <a:ext cx="6766560" cy="9619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4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GPU-accelerated, differentiable, end-to-end co-optimization of top-level floorplan and partition-level cell placement (custom CUDA kernels)</a:t>
            </a:r>
            <a:endParaRPr lang="en-US" sz="1250" dirty="0"/>
          </a:p>
          <a:p>
            <a:pPr algn="l" marL="127000" indent="-1270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4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clean rectilinear, exactly-abutted partition boundaries while concurrently placing macros + standard cells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3083357"/>
            <a:ext cx="6812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— 3 coupled stages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02920" y="3357677"/>
            <a:ext cx="6766560" cy="1044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4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IP-core placement with differentiable grouping objectives</a:t>
            </a:r>
            <a:endParaRPr lang="en-US" sz="1250" dirty="0"/>
          </a:p>
          <a:p>
            <a:pPr algn="l" marL="127000" indent="-1270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4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Partition-boundary refinement via simulated annealing under area / routability constraints</a:t>
            </a:r>
            <a:endParaRPr lang="en-US" sz="1250" dirty="0"/>
          </a:p>
          <a:p>
            <a:pPr algn="l" marL="127000" indent="-1270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4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Routability-aware fence-region placement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4548226"/>
            <a:ext cx="6812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02920" y="4822546"/>
            <a:ext cx="6766560" cy="480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4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industrial IP-cores up to 25M cells: total WL up to −14%, cross-partition (feed-through) WL −27% avg vs expert manual floorplans; ≈1.2 h runtime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479792" y="1700784"/>
            <a:ext cx="4261104" cy="2080260"/>
          </a:xfrm>
          <a:prstGeom prst="roundRect">
            <a:avLst>
              <a:gd name="adj" fmla="val 3516"/>
            </a:avLst>
          </a:prstGeom>
          <a:solidFill>
            <a:srgbClr val="E9EEF7"/>
          </a:solidFill>
          <a:ln/>
        </p:spPr>
      </p:sp>
      <p:sp>
        <p:nvSpPr>
          <p:cNvPr id="21" name="Text 19"/>
          <p:cNvSpPr/>
          <p:nvPr/>
        </p:nvSpPr>
        <p:spPr>
          <a:xfrm>
            <a:off x="7699248" y="1847088"/>
            <a:ext cx="3822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Ours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735824" y="2139696"/>
            <a:ext cx="3785616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4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geometry is their output — in our setting it is a fixed designer input</a:t>
            </a:r>
            <a:endParaRPr lang="en-US" sz="1150" dirty="0"/>
          </a:p>
          <a:p>
            <a:pPr algn="l" marL="127000" indent="-1270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4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minimize cross-partition wirelength; we minimize discrete counts (IO crossings, pure FT) with an exact per-net tree evaluator</a:t>
            </a:r>
            <a:endParaRPr lang="en-US" sz="1150" dirty="0"/>
          </a:p>
          <a:p>
            <a:pPr algn="l" marL="127000" indent="-1270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4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public code → conceptual reference, not a runnable baseline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641908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C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Z. Xiong, Y.-C. Lu, D. Z. Pan, H. Ren, “GrandPlan: Differentiable, Simultaneous Top-Level Floorplanning and Partition-Level Cell Placement for Large-Scale IP-Cores,” ISPD 2026, pp. 64–72.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WORKS · 2 / 7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Placement with Routing-Topology Optimization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356848" y="310896"/>
            <a:ext cx="183383" cy="183383"/>
          </a:xfrm>
          <a:prstGeom prst="rect">
            <a:avLst/>
          </a:prstGeom>
          <a:solidFill>
            <a:srgbClr val="457B9D"/>
          </a:solidFill>
          <a:ln/>
        </p:spPr>
      </p:sp>
      <p:sp>
        <p:nvSpPr>
          <p:cNvPr id="5" name="Shape 3"/>
          <p:cNvSpPr/>
          <p:nvPr/>
        </p:nvSpPr>
        <p:spPr>
          <a:xfrm>
            <a:off x="11557513" y="310896"/>
            <a:ext cx="183383" cy="183383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6" name="Shape 4"/>
          <p:cNvSpPr/>
          <p:nvPr/>
        </p:nvSpPr>
        <p:spPr>
          <a:xfrm>
            <a:off x="11356848" y="511561"/>
            <a:ext cx="183383" cy="183383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7" name="Shape 5"/>
          <p:cNvSpPr/>
          <p:nvPr/>
        </p:nvSpPr>
        <p:spPr>
          <a:xfrm>
            <a:off x="11557513" y="511561"/>
            <a:ext cx="183383" cy="183383"/>
          </a:xfrm>
          <a:prstGeom prst="rect">
            <a:avLst/>
          </a:prstGeom>
          <a:solidFill>
            <a:srgbClr val="FCA311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188720"/>
            <a:ext cx="1260409" cy="310896"/>
          </a:xfrm>
          <a:prstGeom prst="roundRect">
            <a:avLst>
              <a:gd name="adj" fmla="val 14706"/>
            </a:avLst>
          </a:prstGeom>
          <a:solidFill>
            <a:srgbClr val="14213D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188720"/>
            <a:ext cx="126040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ASP-DAC 2024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845625" y="1188720"/>
            <a:ext cx="1663659" cy="310896"/>
          </a:xfrm>
          <a:prstGeom prst="roundRect">
            <a:avLst>
              <a:gd name="adj" fmla="val 14706"/>
            </a:avLst>
          </a:prstGeom>
          <a:solidFill>
            <a:srgbClr val="F2F4F8"/>
          </a:solidFill>
          <a:ln/>
        </p:spPr>
      </p:sp>
      <p:sp>
        <p:nvSpPr>
          <p:cNvPr id="11" name="Text 9"/>
          <p:cNvSpPr/>
          <p:nvPr/>
        </p:nvSpPr>
        <p:spPr>
          <a:xfrm>
            <a:off x="1845625" y="1188720"/>
            <a:ext cx="16636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4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Fuzhou University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37300" y="1188720"/>
            <a:ext cx="2792760" cy="310896"/>
          </a:xfrm>
          <a:prstGeom prst="roundRect">
            <a:avLst>
              <a:gd name="adj" fmla="val 14706"/>
            </a:avLst>
          </a:prstGeom>
          <a:solidFill>
            <a:srgbClr val="F2F4F8"/>
          </a:solidFill>
          <a:ln/>
        </p:spPr>
      </p:sp>
      <p:sp>
        <p:nvSpPr>
          <p:cNvPr id="13" name="Text 11"/>
          <p:cNvSpPr/>
          <p:nvPr/>
        </p:nvSpPr>
        <p:spPr>
          <a:xfrm>
            <a:off x="3637300" y="1188720"/>
            <a:ext cx="2792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4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ext. Integration (VLSI J.) 2025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1700784"/>
            <a:ext cx="6812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02920" y="1975104"/>
            <a:ext cx="676656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4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HPWL-driven placers ignore each net's internal routing topology → gap between estimate and routed wirelength</a:t>
            </a:r>
            <a:endParaRPr lang="en-US" sz="1250" dirty="0"/>
          </a:p>
          <a:p>
            <a:pPr algn="l" marL="127000" indent="-1270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4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differentiable wirelength model on the ideal RSMT topology inside global placement; segment screening / tracing yields meaningful gradients for interior points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3282696"/>
            <a:ext cx="6812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02920" y="3557016"/>
            <a:ext cx="6766560" cy="480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4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RSMT-based differentiable WL in GP, then post-GP cell refinement with swift density control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4184294"/>
            <a:ext cx="6812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02920" y="4458614"/>
            <a:ext cx="6766560" cy="480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4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ICCAD-2015 suite: routed WL −3%, HPWL −0.8%, TNS −23.8% vs a state-of-the-art analytical placer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479792" y="1700784"/>
            <a:ext cx="4261104" cy="2080260"/>
          </a:xfrm>
          <a:prstGeom prst="roundRect">
            <a:avLst>
              <a:gd name="adj" fmla="val 3516"/>
            </a:avLst>
          </a:prstGeom>
          <a:solidFill>
            <a:srgbClr val="E9EEF7"/>
          </a:solidFill>
          <a:ln/>
        </p:spPr>
      </p:sp>
      <p:sp>
        <p:nvSpPr>
          <p:cNvPr id="21" name="Text 19"/>
          <p:cNvSpPr/>
          <p:nvPr/>
        </p:nvSpPr>
        <p:spPr>
          <a:xfrm>
            <a:off x="7699248" y="1847088"/>
            <a:ext cx="3822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Ours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735824" y="2139696"/>
            <a:ext cx="3785616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4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recipe shape as ours: a tree-topology term inside analytical GP, periodically re-anchored by an exact evaluator</a:t>
            </a:r>
            <a:endParaRPr lang="en-US" sz="1150" dirty="0"/>
          </a:p>
          <a:p>
            <a:pPr algn="l" marL="127000" indent="-1270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4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the objective is routed wirelength — region-oblivious, no IO / FT notion</a:t>
            </a:r>
            <a:endParaRPr lang="en-US" sz="1150" dirty="0"/>
          </a:p>
          <a:p>
            <a:pPr algn="l" marL="127000" indent="-1270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4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that per-net tree objectives can drive GP gradients at scale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641908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C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Wei, X. Tong, Z. Cai, P. Zou, Z. Lin, J. Chen, “An Analytical Placement Algorithm with Routing Topology Optimization,” ASP-DAC 2024, pp. 294–299 (extended: Integration, vol. 100, 2025).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WORKS · 3 / 7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FTAFP — Feedthrough-Aware Floorplanner for Large-Scale SoCs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11356848" y="310896"/>
            <a:ext cx="183383" cy="183383"/>
          </a:xfrm>
          <a:prstGeom prst="rect">
            <a:avLst/>
          </a:prstGeom>
          <a:solidFill>
            <a:srgbClr val="457B9D"/>
          </a:solidFill>
          <a:ln/>
        </p:spPr>
      </p:sp>
      <p:sp>
        <p:nvSpPr>
          <p:cNvPr id="5" name="Shape 3"/>
          <p:cNvSpPr/>
          <p:nvPr/>
        </p:nvSpPr>
        <p:spPr>
          <a:xfrm>
            <a:off x="11557513" y="310896"/>
            <a:ext cx="183383" cy="183383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6" name="Shape 4"/>
          <p:cNvSpPr/>
          <p:nvPr/>
        </p:nvSpPr>
        <p:spPr>
          <a:xfrm>
            <a:off x="11356848" y="511561"/>
            <a:ext cx="183383" cy="183383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7" name="Shape 5"/>
          <p:cNvSpPr/>
          <p:nvPr/>
        </p:nvSpPr>
        <p:spPr>
          <a:xfrm>
            <a:off x="11557513" y="511561"/>
            <a:ext cx="183383" cy="183383"/>
          </a:xfrm>
          <a:prstGeom prst="rect">
            <a:avLst/>
          </a:prstGeom>
          <a:solidFill>
            <a:srgbClr val="FCA311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188720"/>
            <a:ext cx="1260409" cy="310896"/>
          </a:xfrm>
          <a:prstGeom prst="roundRect">
            <a:avLst>
              <a:gd name="adj" fmla="val 14706"/>
            </a:avLst>
          </a:prstGeom>
          <a:solidFill>
            <a:srgbClr val="14213D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188720"/>
            <a:ext cx="126040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ASP-DAC 2025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845625" y="1188720"/>
            <a:ext cx="1905610" cy="310896"/>
          </a:xfrm>
          <a:prstGeom prst="roundRect">
            <a:avLst>
              <a:gd name="adj" fmla="val 14706"/>
            </a:avLst>
          </a:prstGeom>
          <a:solidFill>
            <a:srgbClr val="F2F4F8"/>
          </a:solidFill>
          <a:ln/>
        </p:spPr>
      </p:sp>
      <p:sp>
        <p:nvSpPr>
          <p:cNvPr id="11" name="Text 9"/>
          <p:cNvSpPr/>
          <p:nvPr/>
        </p:nvSpPr>
        <p:spPr>
          <a:xfrm>
            <a:off x="1845625" y="1188720"/>
            <a:ext cx="190561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4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BUPT + Huawei + CUHK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1700784"/>
            <a:ext cx="6812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02920" y="1975104"/>
            <a:ext cx="6766560" cy="9619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4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hierarchical SoC reuse, a feed-through is a through-module connection that adds buffers + ports inside the reused module → congestion and timing damage</a:t>
            </a:r>
            <a:endParaRPr lang="en-US" sz="1250" dirty="0"/>
          </a:p>
          <a:p>
            <a:pPr algn="l" marL="127000" indent="-1270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4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prior works model FT at all — FTAFP optimizes it explicitly at the floorplan stage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3083357"/>
            <a:ext cx="6812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02920" y="3357677"/>
            <a:ext cx="6766560" cy="480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4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Feed-through-aware floorplanning for hierarchical large-scale SoCs: module shapes / positions co-optimized with an explicit FT cost (module granularity)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3984955"/>
            <a:ext cx="6812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to us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02920" y="4259275"/>
            <a:ext cx="6766560" cy="480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4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FT as a first-class objective in 2025 academic work, at the granularity directly above ours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479792" y="1700784"/>
            <a:ext cx="4261104" cy="1453896"/>
          </a:xfrm>
          <a:prstGeom prst="roundRect">
            <a:avLst>
              <a:gd name="adj" fmla="val 5031"/>
            </a:avLst>
          </a:prstGeom>
          <a:solidFill>
            <a:srgbClr val="E9EEF7"/>
          </a:solidFill>
          <a:ln/>
        </p:spPr>
      </p:sp>
      <p:sp>
        <p:nvSpPr>
          <p:cNvPr id="19" name="Text 17"/>
          <p:cNvSpPr/>
          <p:nvPr/>
        </p:nvSpPr>
        <p:spPr>
          <a:xfrm>
            <a:off x="7699248" y="1847088"/>
            <a:ext cx="3822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Ours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35824" y="2139696"/>
            <a:ext cx="378561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4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Optimizes ~10² module shapes and positions; we place 10⁷ cells with region geometry fixed</a:t>
            </a:r>
            <a:endParaRPr lang="en-US" sz="1150" dirty="0"/>
          </a:p>
          <a:p>
            <a:pPr algn="l" marL="127000" indent="-1270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4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 counted between modules; ours is per-net tree-based, plus boundary-pin (IO) demand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641908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C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Z. Li, K. Tian, J. Zhai, Z. Li, S. Kai, S. Xu, B. Yu, K. Zhao, “FTAFP: A Feedthrough-Aware Floorplanner for Hierarchical Design of Large-Scale SoCs,” ASP-DAC 2025, pp. 886–892.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WORKS · 4 / 7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Flora — “One Step Beyond”: Feedthrough &amp; Placement-Aware Rectilinear Floorplanning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1356848" y="310896"/>
            <a:ext cx="183383" cy="183383"/>
          </a:xfrm>
          <a:prstGeom prst="rect">
            <a:avLst/>
          </a:prstGeom>
          <a:solidFill>
            <a:srgbClr val="457B9D"/>
          </a:solidFill>
          <a:ln/>
        </p:spPr>
      </p:sp>
      <p:sp>
        <p:nvSpPr>
          <p:cNvPr id="5" name="Shape 3"/>
          <p:cNvSpPr/>
          <p:nvPr/>
        </p:nvSpPr>
        <p:spPr>
          <a:xfrm>
            <a:off x="11557513" y="310896"/>
            <a:ext cx="183383" cy="183383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6" name="Shape 4"/>
          <p:cNvSpPr/>
          <p:nvPr/>
        </p:nvSpPr>
        <p:spPr>
          <a:xfrm>
            <a:off x="11356848" y="511561"/>
            <a:ext cx="183383" cy="183383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7" name="Shape 5"/>
          <p:cNvSpPr/>
          <p:nvPr/>
        </p:nvSpPr>
        <p:spPr>
          <a:xfrm>
            <a:off x="11557513" y="511561"/>
            <a:ext cx="183383" cy="183383"/>
          </a:xfrm>
          <a:prstGeom prst="rect">
            <a:avLst/>
          </a:prstGeom>
          <a:solidFill>
            <a:srgbClr val="FCA311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188720"/>
            <a:ext cx="2147560" cy="310896"/>
          </a:xfrm>
          <a:prstGeom prst="roundRect">
            <a:avLst>
              <a:gd name="adj" fmla="val 14706"/>
            </a:avLst>
          </a:prstGeom>
          <a:solidFill>
            <a:srgbClr val="14213D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188720"/>
            <a:ext cx="214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 2025 (2507.14914)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32776" y="1188720"/>
            <a:ext cx="2228210" cy="310896"/>
          </a:xfrm>
          <a:prstGeom prst="roundRect">
            <a:avLst>
              <a:gd name="adj" fmla="val 14706"/>
            </a:avLst>
          </a:prstGeom>
          <a:solidFill>
            <a:srgbClr val="F2F4F8"/>
          </a:solidFill>
          <a:ln/>
        </p:spPr>
      </p:sp>
      <p:sp>
        <p:nvSpPr>
          <p:cNvPr id="11" name="Text 9"/>
          <p:cNvSpPr/>
          <p:nvPr/>
        </p:nvSpPr>
        <p:spPr>
          <a:xfrm>
            <a:off x="2732776" y="1188720"/>
            <a:ext cx="222821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4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USTC + Huawei Noah's Ark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1700784"/>
            <a:ext cx="6812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02920" y="1975104"/>
            <a:ext cx="6766560" cy="480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4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Floorplanning decided in isolation from later placement → suboptimal placement and excessive feed-through; Flora couples the two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2602382"/>
            <a:ext cx="6812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— 3 stages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02920" y="2876702"/>
            <a:ext cx="6766560" cy="844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4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Wiremask + position-mask co-optimization of HPWL and FT</a:t>
            </a:r>
            <a:endParaRPr lang="en-US" sz="1250" dirty="0"/>
          </a:p>
          <a:p>
            <a:pPr algn="l" marL="127000" indent="-1270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4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Fixed-outline, zero-whitespace module resizing that refines FT and placement</a:t>
            </a:r>
            <a:endParaRPr lang="en-US" sz="1250" dirty="0"/>
          </a:p>
          <a:p>
            <a:pPr algn="l" marL="127000" indent="-1270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4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Tree-search component positioning inside modules, then boundary adjustment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3867912"/>
            <a:ext cx="6812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02920" y="4142232"/>
            <a:ext cx="676656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4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HPWL −6%, FT-pin −5.2%, FT-module −29.2%, component placement +14% vs SOTA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479792" y="1700784"/>
            <a:ext cx="4261104" cy="1636776"/>
          </a:xfrm>
          <a:prstGeom prst="roundRect">
            <a:avLst>
              <a:gd name="adj" fmla="val 4469"/>
            </a:avLst>
          </a:prstGeom>
          <a:solidFill>
            <a:srgbClr val="E9EEF7"/>
          </a:solidFill>
          <a:ln/>
        </p:spPr>
      </p:sp>
      <p:sp>
        <p:nvSpPr>
          <p:cNvPr id="19" name="Text 17"/>
          <p:cNvSpPr/>
          <p:nvPr/>
        </p:nvSpPr>
        <p:spPr>
          <a:xfrm>
            <a:off x="7699248" y="1847088"/>
            <a:ext cx="3822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Ours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35824" y="2139696"/>
            <a:ext cx="378561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4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module-level rectilinear floorplanning (learning / search based)</a:t>
            </a:r>
            <a:endParaRPr lang="en-US" sz="1150" dirty="0"/>
          </a:p>
          <a:p>
            <a:pPr algn="l" marL="127000" indent="-1270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4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FT + placement coupling is an active 2025 topic — but no GPU-scale cell placement, no count-exact evaluator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641908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C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Z. Xu, J. Wang, S. Xu, Z. Geng, M. Yuan, F. Wu, “One Step Beyond: Feedthrough &amp; Placement-Aware Rectilinear Floorplanner,” arXiv:2507.14914, 2025.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WORKS · 5 / 7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Feedthrough Insertion Methodology for Hierarchical SoCs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356848" y="310896"/>
            <a:ext cx="183383" cy="183383"/>
          </a:xfrm>
          <a:prstGeom prst="rect">
            <a:avLst/>
          </a:prstGeom>
          <a:solidFill>
            <a:srgbClr val="457B9D"/>
          </a:solidFill>
          <a:ln/>
        </p:spPr>
      </p:sp>
      <p:sp>
        <p:nvSpPr>
          <p:cNvPr id="5" name="Shape 3"/>
          <p:cNvSpPr/>
          <p:nvPr/>
        </p:nvSpPr>
        <p:spPr>
          <a:xfrm>
            <a:off x="11557513" y="310896"/>
            <a:ext cx="183383" cy="183383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6" name="Shape 4"/>
          <p:cNvSpPr/>
          <p:nvPr/>
        </p:nvSpPr>
        <p:spPr>
          <a:xfrm>
            <a:off x="11356848" y="511561"/>
            <a:ext cx="183383" cy="183383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7" name="Shape 5"/>
          <p:cNvSpPr/>
          <p:nvPr/>
        </p:nvSpPr>
        <p:spPr>
          <a:xfrm>
            <a:off x="11557513" y="511561"/>
            <a:ext cx="183383" cy="183383"/>
          </a:xfrm>
          <a:prstGeom prst="rect">
            <a:avLst/>
          </a:prstGeom>
          <a:solidFill>
            <a:srgbClr val="FCA311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188720"/>
            <a:ext cx="1099109" cy="310896"/>
          </a:xfrm>
          <a:prstGeom prst="roundRect">
            <a:avLst>
              <a:gd name="adj" fmla="val 14706"/>
            </a:avLst>
          </a:prstGeom>
          <a:solidFill>
            <a:srgbClr val="14213D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188720"/>
            <a:ext cx="109910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ISQED 2025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684325" y="1188720"/>
            <a:ext cx="1905610" cy="310896"/>
          </a:xfrm>
          <a:prstGeom prst="roundRect">
            <a:avLst>
              <a:gd name="adj" fmla="val 14706"/>
            </a:avLst>
          </a:prstGeom>
          <a:solidFill>
            <a:srgbClr val="F2F4F8"/>
          </a:solidFill>
          <a:ln/>
        </p:spPr>
      </p:sp>
      <p:sp>
        <p:nvSpPr>
          <p:cNvPr id="11" name="Text 9"/>
          <p:cNvSpPr/>
          <p:nvPr/>
        </p:nvSpPr>
        <p:spPr>
          <a:xfrm>
            <a:off x="1684325" y="1188720"/>
            <a:ext cx="190561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4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methodology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1700784"/>
            <a:ext cx="6812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02920" y="1975104"/>
            <a:ext cx="6766560" cy="9619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4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channel-based hierarchical SoCs, top-channel congestion sets die area; feed-through insertion at the floorplan stage decongests top channels → die-area savings</a:t>
            </a:r>
            <a:endParaRPr lang="en-US" sz="1250" dirty="0"/>
          </a:p>
          <a:p>
            <a:pPr algn="l" marL="127000" indent="-1270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4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/ flattened FT insertion breaks down at scale: huge top-level connection counts, RTL coupling, sub-chip port porting, logical-equivalence checkout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3083357"/>
            <a:ext cx="6812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02920" y="3357677"/>
            <a:ext cx="6766560" cy="480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4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automated feed-through insertion methodology integrated into the hierarchical implementation flow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3984955"/>
            <a:ext cx="6812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 to our setting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02920" y="4259275"/>
            <a:ext cx="6766560" cy="9619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4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Channel-based and channelless are the two hierarchical integration styles — our Phase-1 cost model is channelless (fully-abutted regions), with a channel-style cost switch planned for Phase 2</a:t>
            </a:r>
            <a:endParaRPr lang="en-US" sz="1250" dirty="0"/>
          </a:p>
          <a:p>
            <a:pPr algn="l" marL="127000" indent="-1270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4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feed-through our placement avoids is one this methodology never has to insert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479792" y="1700784"/>
            <a:ext cx="4261104" cy="1897380"/>
          </a:xfrm>
          <a:prstGeom prst="roundRect">
            <a:avLst>
              <a:gd name="adj" fmla="val 3855"/>
            </a:avLst>
          </a:prstGeom>
          <a:solidFill>
            <a:srgbClr val="E9EEF7"/>
          </a:solidFill>
          <a:ln/>
        </p:spPr>
      </p:sp>
      <p:sp>
        <p:nvSpPr>
          <p:cNvPr id="19" name="Text 17"/>
          <p:cNvSpPr/>
          <p:nvPr/>
        </p:nvSpPr>
        <p:spPr>
          <a:xfrm>
            <a:off x="7699248" y="1847088"/>
            <a:ext cx="3822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Ours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35824" y="2139696"/>
            <a:ext cx="3785616" cy="1394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4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Downstream remedy — inserts the FTs a design already needs</a:t>
            </a:r>
            <a:endParaRPr lang="en-US" sz="1150" dirty="0"/>
          </a:p>
          <a:p>
            <a:pPr algn="l" marL="127000" indent="-1270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4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act upstream: placement chooses membership so fewer FTs exist at all</a:t>
            </a:r>
            <a:endParaRPr lang="en-US" sz="1150" dirty="0"/>
          </a:p>
          <a:p>
            <a:pPr algn="l" marL="127000" indent="-1270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4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evidence that FT count is a first-order cost (die area, TAT)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641908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C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 Sakariya, S. Aich, V. Joshi, R. Griesmer, “Die Area Reduction by Decongesting Top Channels Using Novel Feedthrough Insertion Methodology in Hierarchical SoC Designs,” ISQED 2025.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WORKS · 6 / 7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HiDaP — Multilevel Dataflow-Driven Macro Placement from RTL Structure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1356848" y="310896"/>
            <a:ext cx="183383" cy="183383"/>
          </a:xfrm>
          <a:prstGeom prst="rect">
            <a:avLst/>
          </a:prstGeom>
          <a:solidFill>
            <a:srgbClr val="457B9D"/>
          </a:solidFill>
          <a:ln/>
        </p:spPr>
      </p:sp>
      <p:sp>
        <p:nvSpPr>
          <p:cNvPr id="5" name="Shape 3"/>
          <p:cNvSpPr/>
          <p:nvPr/>
        </p:nvSpPr>
        <p:spPr>
          <a:xfrm>
            <a:off x="11557513" y="310896"/>
            <a:ext cx="183383" cy="183383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6" name="Shape 4"/>
          <p:cNvSpPr/>
          <p:nvPr/>
        </p:nvSpPr>
        <p:spPr>
          <a:xfrm>
            <a:off x="11356848" y="511561"/>
            <a:ext cx="183383" cy="183383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7" name="Shape 5"/>
          <p:cNvSpPr/>
          <p:nvPr/>
        </p:nvSpPr>
        <p:spPr>
          <a:xfrm>
            <a:off x="11557513" y="511561"/>
            <a:ext cx="183383" cy="183383"/>
          </a:xfrm>
          <a:prstGeom prst="rect">
            <a:avLst/>
          </a:prstGeom>
          <a:solidFill>
            <a:srgbClr val="FCA311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188720"/>
            <a:ext cx="1421709" cy="310896"/>
          </a:xfrm>
          <a:prstGeom prst="roundRect">
            <a:avLst>
              <a:gd name="adj" fmla="val 14706"/>
            </a:avLst>
          </a:prstGeom>
          <a:solidFill>
            <a:srgbClr val="14213D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188720"/>
            <a:ext cx="142170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TCAD 2021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006925" y="1188720"/>
            <a:ext cx="2228210" cy="310896"/>
          </a:xfrm>
          <a:prstGeom prst="roundRect">
            <a:avLst>
              <a:gd name="adj" fmla="val 14706"/>
            </a:avLst>
          </a:prstGeom>
          <a:solidFill>
            <a:srgbClr val="F2F4F8"/>
          </a:solidFill>
          <a:ln/>
        </p:spPr>
      </p:sp>
      <p:sp>
        <p:nvSpPr>
          <p:cNvPr id="11" name="Text 9"/>
          <p:cNvSpPr/>
          <p:nvPr/>
        </p:nvSpPr>
        <p:spPr>
          <a:xfrm>
            <a:off x="2006925" y="1188720"/>
            <a:ext cx="222821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4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 Barcelona + eSilicon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1700784"/>
            <a:ext cx="6812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02920" y="1975104"/>
            <a:ext cx="6766560" cy="480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4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RTL hierarchy + dataflow affinity (register latency, flow width) encode designer intent that flat synthesis discards — use them to drive multilevel macro placement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2602382"/>
            <a:ext cx="6812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02920" y="2876702"/>
            <a:ext cx="6766560" cy="680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4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Hierarchy tree → blocks of macros + std cells; top-down slicing-structure layout; adaptive multi-objective cost (WL, timing, overlap, preferred locations) with spectral / force-directed hints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3703320"/>
            <a:ext cx="6812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02920" y="3977640"/>
            <a:ext cx="6766560" cy="480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4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industrial designs: beats commercial + academic macro placers and expert handcrafted floorplans on WL &amp; timing; near closure post-route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479792" y="1700784"/>
            <a:ext cx="4261104" cy="1636776"/>
          </a:xfrm>
          <a:prstGeom prst="roundRect">
            <a:avLst>
              <a:gd name="adj" fmla="val 4469"/>
            </a:avLst>
          </a:prstGeom>
          <a:solidFill>
            <a:srgbClr val="E9EEF7"/>
          </a:solidFill>
          <a:ln/>
        </p:spPr>
      </p:sp>
      <p:sp>
        <p:nvSpPr>
          <p:cNvPr id="19" name="Text 17"/>
          <p:cNvSpPr/>
          <p:nvPr/>
        </p:nvSpPr>
        <p:spPr>
          <a:xfrm>
            <a:off x="7699248" y="1847088"/>
            <a:ext cx="3822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Ours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35824" y="2139696"/>
            <a:ext cx="378561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4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Top-level planning at macro / block granularity, no explicit IO or FT count objective</a:t>
            </a:r>
            <a:endParaRPr lang="en-US" sz="1150" dirty="0"/>
          </a:p>
          <a:p>
            <a:pPr algn="l" marL="127000" indent="-1270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4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our benchmark premise: RTL hierarchy ≈ natural physical regions (our region ground truth on real designs)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641908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C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Vidal-Obiols, J. Cortadella, J. Petit, M. Galceran-Oms, F. Martorell, “Multilevel Dataflow-Driven Macro Placement Guided by RTL Structure and Analytical Methods,” IEEE TCAD 40(12), 2021.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WORKS · 7 / 7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DREAMPlace Lineage — the Engine We Build 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356848" y="310896"/>
            <a:ext cx="183383" cy="183383"/>
          </a:xfrm>
          <a:prstGeom prst="rect">
            <a:avLst/>
          </a:prstGeom>
          <a:solidFill>
            <a:srgbClr val="457B9D"/>
          </a:solidFill>
          <a:ln/>
        </p:spPr>
      </p:sp>
      <p:sp>
        <p:nvSpPr>
          <p:cNvPr id="5" name="Shape 3"/>
          <p:cNvSpPr/>
          <p:nvPr/>
        </p:nvSpPr>
        <p:spPr>
          <a:xfrm>
            <a:off x="11557513" y="310896"/>
            <a:ext cx="183383" cy="183383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6" name="Shape 4"/>
          <p:cNvSpPr/>
          <p:nvPr/>
        </p:nvSpPr>
        <p:spPr>
          <a:xfrm>
            <a:off x="11356848" y="511561"/>
            <a:ext cx="183383" cy="183383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7" name="Shape 5"/>
          <p:cNvSpPr/>
          <p:nvPr/>
        </p:nvSpPr>
        <p:spPr>
          <a:xfrm>
            <a:off x="11557513" y="511561"/>
            <a:ext cx="183383" cy="183383"/>
          </a:xfrm>
          <a:prstGeom prst="rect">
            <a:avLst/>
          </a:prstGeom>
          <a:solidFill>
            <a:srgbClr val="FCA311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481328"/>
            <a:ext cx="11274552" cy="1060704"/>
          </a:xfrm>
          <a:prstGeom prst="roundRect">
            <a:avLst>
              <a:gd name="adj" fmla="val 6897"/>
            </a:avLst>
          </a:prstGeom>
          <a:solidFill>
            <a:srgbClr val="F2F4F8"/>
          </a:solidFill>
          <a:ln/>
        </p:spPr>
      </p:sp>
      <p:sp>
        <p:nvSpPr>
          <p:cNvPr id="9" name="Shape 7"/>
          <p:cNvSpPr/>
          <p:nvPr/>
        </p:nvSpPr>
        <p:spPr>
          <a:xfrm>
            <a:off x="713232" y="1792224"/>
            <a:ext cx="420624" cy="420624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" y="17922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71600" y="160934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DREAMPlace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371600" y="191109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C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DAC 2019 / TCAD 2021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480560" y="1591056"/>
            <a:ext cx="7040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4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Casts ePlace/RePlAce electrostatic GP as “training a neural net” on CUDA tensors — 30×+ GP speedup, 10M-cell global placement in minutes. Lin, Jiang, Gu, Li, Dhar, Ren, Khailany, Pan.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2688336"/>
            <a:ext cx="11274552" cy="1060704"/>
          </a:xfrm>
          <a:prstGeom prst="roundRect">
            <a:avLst>
              <a:gd name="adj" fmla="val 6897"/>
            </a:avLst>
          </a:prstGeom>
          <a:solidFill>
            <a:srgbClr val="F2F4F8"/>
          </a:solidFill>
          <a:ln/>
        </p:spPr>
      </p:sp>
      <p:sp>
        <p:nvSpPr>
          <p:cNvPr id="15" name="Shape 13"/>
          <p:cNvSpPr/>
          <p:nvPr/>
        </p:nvSpPr>
        <p:spPr>
          <a:xfrm>
            <a:off x="713232" y="2999232"/>
            <a:ext cx="420624" cy="420624"/>
          </a:xfrm>
          <a:prstGeom prst="ellipse">
            <a:avLst/>
          </a:prstGeom>
          <a:solidFill>
            <a:srgbClr val="457B9D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" y="29992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71600" y="2816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DREAMPlace 3.0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371600" y="311810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C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ICCAD 2020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480560" y="2798064"/>
            <a:ext cx="7040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4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Multi-electrostatics fence-region placement (region constraints) — the machinery behind our two-stage baseline. Gu, Jiang, Lin, Pan.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3895344"/>
            <a:ext cx="11274552" cy="1060704"/>
          </a:xfrm>
          <a:prstGeom prst="roundRect">
            <a:avLst>
              <a:gd name="adj" fmla="val 6897"/>
            </a:avLst>
          </a:prstGeom>
          <a:solidFill>
            <a:srgbClr val="F2F4F8"/>
          </a:solidFill>
          <a:ln/>
        </p:spPr>
      </p:sp>
      <p:sp>
        <p:nvSpPr>
          <p:cNvPr id="21" name="Shape 19"/>
          <p:cNvSpPr/>
          <p:nvPr/>
        </p:nvSpPr>
        <p:spPr>
          <a:xfrm>
            <a:off x="713232" y="4206240"/>
            <a:ext cx="420624" cy="420624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22" name="Text 20"/>
          <p:cNvSpPr/>
          <p:nvPr/>
        </p:nvSpPr>
        <p:spPr>
          <a:xfrm>
            <a:off x="713232" y="42062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371600" y="40233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DREAMPlace 4.0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1371600" y="432511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C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2022 / TCAD 2023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480560" y="4005072"/>
            <a:ext cx="7040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4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Timing-driven, momentum-based net weighting — the net-weight mechanism our M1 IO-reweighting repurposes. Liao, Guo, Guo, Liu, Lin, Yu.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57200" y="5230368"/>
            <a:ext cx="11274552" cy="868680"/>
          </a:xfrm>
          <a:prstGeom prst="roundRect">
            <a:avLst>
              <a:gd name="adj" fmla="val 8421"/>
            </a:avLst>
          </a:prstGeom>
          <a:solidFill>
            <a:srgbClr val="E9EEF7"/>
          </a:solidFill>
          <a:ln/>
        </p:spPr>
      </p:sp>
      <p:sp>
        <p:nvSpPr>
          <p:cNvPr id="27" name="Text 25"/>
          <p:cNvSpPr/>
          <p:nvPr/>
        </p:nvSpPr>
        <p:spPr>
          <a:xfrm>
            <a:off x="713232" y="535838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Ours — engine, not competitor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480560" y="5303520"/>
            <a:ext cx="7040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4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 lineage sees cross-region IO / FT. Our integration: a 5-line iteration callback + region / evaluator stack on top — the fork is otherwise untouched.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57200" y="641908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C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Y. Lin et al., TCAD 40(5) 2021 · J. Gu et al., ICCAD 2020 · P. Liao et al., TCAD 42(10) 2023.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1M → 30M Benchmark Ladder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1356848" y="310896"/>
            <a:ext cx="183383" cy="183383"/>
          </a:xfrm>
          <a:prstGeom prst="rect">
            <a:avLst/>
          </a:prstGeom>
          <a:solidFill>
            <a:srgbClr val="457B9D"/>
          </a:solidFill>
          <a:ln/>
        </p:spPr>
      </p:sp>
      <p:sp>
        <p:nvSpPr>
          <p:cNvPr id="5" name="Shape 3"/>
          <p:cNvSpPr/>
          <p:nvPr/>
        </p:nvSpPr>
        <p:spPr>
          <a:xfrm>
            <a:off x="11557513" y="310896"/>
            <a:ext cx="183383" cy="183383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6" name="Shape 4"/>
          <p:cNvSpPr/>
          <p:nvPr/>
        </p:nvSpPr>
        <p:spPr>
          <a:xfrm>
            <a:off x="11356848" y="511561"/>
            <a:ext cx="183383" cy="183383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7" name="Shape 5"/>
          <p:cNvSpPr/>
          <p:nvPr/>
        </p:nvSpPr>
        <p:spPr>
          <a:xfrm>
            <a:off x="11557513" y="511561"/>
            <a:ext cx="183383" cy="183383"/>
          </a:xfrm>
          <a:prstGeom prst="rect">
            <a:avLst/>
          </a:prstGeom>
          <a:solidFill>
            <a:srgbClr val="FCA311"/>
          </a:solidFill>
          <a:ln/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74552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4892040"/>
                <a:gridCol w="2377440"/>
                <a:gridCol w="3044952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/ source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43D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1M-class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43D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ISPD'05/06 bigblue4 · newblue7; ISPD'15 superblue12 (LEF/DEF, real fences)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43D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2.18M / 2.51M / 1.29M cells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43D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use — M0/M1 numbers on adaptec1 (0.21M) + bigblue4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43D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43D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MemPool half-cluster ≈ 2 × mempool_group (NanGate45, OpenROAD flow)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43D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≈5.7M (group ≈ 3.1M)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43D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assemble — lowest priority of the four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43D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43D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ISPD 2025 mempool_cluster — full LEF/DEF/LIB/SDC + placed DEF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43D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11.31M cells / 12.71M nets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43D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disk (46 GB suite) — golden workhorse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43D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43D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TeraPool reduced (open RTL; ISPD'24 simplified format reaches ≈50M)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43D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~30M target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43D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build — moderate effort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02920" y="4434840"/>
            <a:ext cx="11155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4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overlay: grid {2×2 … 8×4} + seeded random slicing, snapped to a 512² lattice (exact counting), K ∈ {8, 16, 32}; real designs later use DEF REGION/GROUP with RTL-hierarchy ground truth (tile / group / cluster)</a:t>
            </a:r>
            <a:endParaRPr lang="en-US" sz="1150" dirty="0"/>
          </a:p>
          <a:p>
            <a:pPr algn="l"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4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Realism gate: naive replication forbidden (cut collapses to 0, Rent p → 0) — every augmented case checked with RentCon, target p ≈ 0.6–0.75; fallbacks: Rent-gap glue nets, ArtNet synthesis</a:t>
            </a:r>
            <a:endParaRPr lang="en-US" sz="1150" dirty="0"/>
          </a:p>
          <a:p>
            <a:pPr algn="l"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4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matrix: scale × K × region-type; ≥3 seeds at 1M; report IO, pure-FT, HPWL / tree-WL, GP runtime, peak GPU memory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FLOW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Phase-1 Pipeline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1356848" y="310896"/>
            <a:ext cx="183383" cy="183383"/>
          </a:xfrm>
          <a:prstGeom prst="rect">
            <a:avLst/>
          </a:prstGeom>
          <a:solidFill>
            <a:srgbClr val="457B9D"/>
          </a:solidFill>
          <a:ln/>
        </p:spPr>
      </p:sp>
      <p:sp>
        <p:nvSpPr>
          <p:cNvPr id="5" name="Shape 3"/>
          <p:cNvSpPr/>
          <p:nvPr/>
        </p:nvSpPr>
        <p:spPr>
          <a:xfrm>
            <a:off x="11557513" y="310896"/>
            <a:ext cx="183383" cy="183383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6" name="Shape 4"/>
          <p:cNvSpPr/>
          <p:nvPr/>
        </p:nvSpPr>
        <p:spPr>
          <a:xfrm>
            <a:off x="11356848" y="511561"/>
            <a:ext cx="183383" cy="183383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7" name="Shape 5"/>
          <p:cNvSpPr/>
          <p:nvPr/>
        </p:nvSpPr>
        <p:spPr>
          <a:xfrm>
            <a:off x="11557513" y="511561"/>
            <a:ext cx="183383" cy="183383"/>
          </a:xfrm>
          <a:prstGeom prst="rect">
            <a:avLst/>
          </a:prstGeom>
          <a:solidFill>
            <a:srgbClr val="FCA311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554480"/>
            <a:ext cx="1965960" cy="1691640"/>
          </a:xfrm>
          <a:prstGeom prst="roundRect">
            <a:avLst>
              <a:gd name="adj" fmla="val 4324"/>
            </a:avLst>
          </a:prstGeom>
          <a:solidFill>
            <a:srgbClr val="14213D"/>
          </a:solidFill>
          <a:ln/>
        </p:spPr>
      </p:sp>
      <p:sp>
        <p:nvSpPr>
          <p:cNvPr id="9" name="Text 7"/>
          <p:cNvSpPr/>
          <p:nvPr/>
        </p:nvSpPr>
        <p:spPr>
          <a:xfrm>
            <a:off x="585216" y="1664208"/>
            <a:ext cx="1709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· Inputs &amp; preprocess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85216" y="2121408"/>
            <a:ext cx="17099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Netlist + K partition regions (fixed geometry) → 512² region-id grid + boundary table; Mt-KaHyPar warm start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41448" y="2400300"/>
            <a:ext cx="137160" cy="0"/>
          </a:xfrm>
          <a:prstGeom prst="line">
            <a:avLst/>
          </a:prstGeom>
          <a:noFill/>
          <a:ln w="25400">
            <a:solidFill>
              <a:srgbClr val="6C768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596896" y="1554480"/>
            <a:ext cx="3017520" cy="1691640"/>
          </a:xfrm>
          <a:prstGeom prst="roundRect">
            <a:avLst>
              <a:gd name="adj" fmla="val 4324"/>
            </a:avLst>
          </a:prstGeom>
          <a:solidFill>
            <a:srgbClr val="457B9D"/>
          </a:solidFill>
          <a:ln/>
        </p:spPr>
      </p:sp>
      <p:sp>
        <p:nvSpPr>
          <p:cNvPr id="13" name="Text 11"/>
          <p:cNvSpPr/>
          <p:nvPr/>
        </p:nvSpPr>
        <p:spPr>
          <a:xfrm>
            <a:off x="2724912" y="1664208"/>
            <a:ext cx="2761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GPU global placement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724912" y="2121408"/>
            <a:ext cx="27614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DREAMPlace 4.x fork:  min WA-WL + λ_D·density + λ_IO·L_IO + λ_FT·L_FT + λ_pin·L_pincap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632704" y="2400300"/>
            <a:ext cx="137160" cy="0"/>
          </a:xfrm>
          <a:prstGeom prst="line">
            <a:avLst/>
          </a:prstGeom>
          <a:noFill/>
          <a:ln w="25400">
            <a:solidFill>
              <a:srgbClr val="6C768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788152" y="1554480"/>
            <a:ext cx="18745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5875">
            <a:solidFill>
              <a:srgbClr val="457B9D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5916168" y="1664208"/>
            <a:ext cx="1618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Decode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916168" y="2121408"/>
            <a:ext cx="16184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membership → hard assignment (conditional expectation)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680960" y="2400300"/>
            <a:ext cx="137160" cy="0"/>
          </a:xfrm>
          <a:prstGeom prst="line">
            <a:avLst/>
          </a:prstGeom>
          <a:noFill/>
          <a:ln w="25400">
            <a:solidFill>
              <a:srgbClr val="6C7688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836408" y="1554480"/>
            <a:ext cx="17830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5875">
            <a:solidFill>
              <a:srgbClr val="457B9D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7964424" y="1664208"/>
            <a:ext cx="152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Refine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964424" y="2121408"/>
            <a:ext cx="15270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Boundary-local trial moves / bin-FM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637776" y="2400300"/>
            <a:ext cx="137160" cy="0"/>
          </a:xfrm>
          <a:prstGeom prst="line">
            <a:avLst/>
          </a:prstGeom>
          <a:noFill/>
          <a:ln w="25400">
            <a:solidFill>
              <a:srgbClr val="6C7688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793224" y="1554480"/>
            <a:ext cx="1920240" cy="1691640"/>
          </a:xfrm>
          <a:prstGeom prst="roundRect">
            <a:avLst>
              <a:gd name="adj" fmla="val 4324"/>
            </a:avLst>
          </a:prstGeom>
          <a:solidFill>
            <a:srgbClr val="14213D"/>
          </a:solidFill>
          <a:ln/>
        </p:spPr>
      </p:sp>
      <p:sp>
        <p:nvSpPr>
          <p:cNvPr id="25" name="Text 23"/>
          <p:cNvSpPr/>
          <p:nvPr/>
        </p:nvSpPr>
        <p:spPr>
          <a:xfrm>
            <a:off x="9921240" y="1664208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Output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921240" y="2121408"/>
            <a:ext cx="16642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 + block→region membership + per-net IO/FT report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329184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C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stage 1 runs inside DREAMPlace (our fork: added objective terms + a 5-line iteration callback); stages 0 / 2 / 3 / 4 are our own code around the engine.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657600"/>
            <a:ext cx="11274552" cy="1371600"/>
          </a:xfrm>
          <a:prstGeom prst="roundRect">
            <a:avLst>
              <a:gd name="adj" fmla="val 5333"/>
            </a:avLst>
          </a:prstGeom>
          <a:solidFill>
            <a:srgbClr val="F2F4F8"/>
          </a:solidFill>
          <a:ln/>
        </p:spPr>
      </p:sp>
      <p:sp>
        <p:nvSpPr>
          <p:cNvPr id="29" name="Text 27"/>
          <p:cNvSpPr/>
          <p:nvPr/>
        </p:nvSpPr>
        <p:spPr>
          <a:xfrm>
            <a:off x="713232" y="3785616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 loop (inside stage 1) — every N = 50–100 iterations · a feedback signal, not a stopping gate (GP stops on DREAMPlace convergence)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713232" y="4114800"/>
            <a:ext cx="2542032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4DAE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4672" y="4160520"/>
            <a:ext cx="2359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4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MST per net (degree-bucketed batched Prim)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273552" y="4489704"/>
            <a:ext cx="137160" cy="0"/>
          </a:xfrm>
          <a:prstGeom prst="line">
            <a:avLst/>
          </a:prstGeom>
          <a:noFill/>
          <a:ln w="25400">
            <a:solidFill>
              <a:srgbClr val="FCA311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3429000" y="4114800"/>
            <a:ext cx="2542032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4DAE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20440" y="4160520"/>
            <a:ext cx="2359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4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crossings via 2-D prefix sums — O(1) per edge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989320" y="4489704"/>
            <a:ext cx="137160" cy="0"/>
          </a:xfrm>
          <a:prstGeom prst="line">
            <a:avLst/>
          </a:prstGeom>
          <a:noFill/>
          <a:ln w="25400">
            <a:solidFill>
              <a:srgbClr val="FCA311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6144768" y="4114800"/>
            <a:ext cx="2542032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4DAE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36208" y="4160520"/>
            <a:ext cx="2359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4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 via K-bit region masks: popcount(passed &amp; ~pins)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8705088" y="4489704"/>
            <a:ext cx="137160" cy="0"/>
          </a:xfrm>
          <a:prstGeom prst="line">
            <a:avLst/>
          </a:prstGeom>
          <a:noFill/>
          <a:ln w="25400">
            <a:solidFill>
              <a:srgbClr val="FCA311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8860536" y="4114800"/>
            <a:ext cx="2542032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4DAE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951976" y="4160520"/>
            <a:ext cx="2359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4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back: report · λ re-normalization · per-net weights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57200" y="5257800"/>
            <a:ext cx="1751990" cy="310896"/>
          </a:xfrm>
          <a:prstGeom prst="roundRect">
            <a:avLst>
              <a:gd name="adj" fmla="val 14706"/>
            </a:avLst>
          </a:prstGeom>
          <a:solidFill>
            <a:srgbClr val="14213D"/>
          </a:solidFill>
          <a:ln/>
        </p:spPr>
      </p:sp>
      <p:sp>
        <p:nvSpPr>
          <p:cNvPr id="42" name="Text 40"/>
          <p:cNvSpPr/>
          <p:nvPr/>
        </p:nvSpPr>
        <p:spPr>
          <a:xfrm>
            <a:off x="457200" y="5257800"/>
            <a:ext cx="17519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(M0/M1)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373782" y="5257800"/>
            <a:ext cx="3211373" cy="310896"/>
          </a:xfrm>
          <a:prstGeom prst="roundRect">
            <a:avLst>
              <a:gd name="adj" fmla="val 14706"/>
            </a:avLst>
          </a:prstGeom>
          <a:solidFill>
            <a:srgbClr val="457B9D"/>
          </a:solidFill>
          <a:ln/>
        </p:spPr>
      </p:sp>
      <p:sp>
        <p:nvSpPr>
          <p:cNvPr id="44" name="Text 42"/>
          <p:cNvSpPr/>
          <p:nvPr/>
        </p:nvSpPr>
        <p:spPr>
          <a:xfrm>
            <a:off x="2373782" y="5257800"/>
            <a:ext cx="321137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— differentiable IO/FT = M2/M3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749747" y="5257800"/>
            <a:ext cx="830275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457B9D"/>
            </a:solidFill>
            <a:prstDash val="dash"/>
          </a:ln>
        </p:spPr>
      </p:sp>
      <p:sp>
        <p:nvSpPr>
          <p:cNvPr id="46" name="Text 44"/>
          <p:cNvSpPr/>
          <p:nvPr/>
        </p:nvSpPr>
        <p:spPr>
          <a:xfrm>
            <a:off x="5749747" y="5257800"/>
            <a:ext cx="8302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57200" y="5779008"/>
            <a:ext cx="11274552" cy="475488"/>
          </a:xfrm>
          <a:prstGeom prst="roundRect">
            <a:avLst>
              <a:gd name="adj" fmla="val 11538"/>
            </a:avLst>
          </a:prstGeom>
          <a:solidFill>
            <a:srgbClr val="E9EEF7"/>
          </a:solidFill>
          <a:ln/>
        </p:spPr>
      </p:sp>
      <p:sp>
        <p:nvSpPr>
          <p:cNvPr id="48" name="Text 46"/>
          <p:cNvSpPr/>
          <p:nvPr/>
        </p:nvSpPr>
        <p:spPr>
          <a:xfrm>
            <a:off x="685800" y="5797296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Downstream (Exp. 1):  </a:t>
            </a:r>
            <a:pPr indent="0" marL="0">
              <a:buNone/>
            </a:pPr>
            <a:r>
              <a:rPr lang="en-US" sz="1100" dirty="0">
                <a:solidFill>
                  <a:srgbClr val="34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block→region membership → per-region P&amp;R with Innovus → assembled top-level QoR (routed WL · timing · congestion)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FLOW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&amp; Evidence — M0 + M1 Complete (13/13 tasks)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1356848" y="310896"/>
            <a:ext cx="183383" cy="183383"/>
          </a:xfrm>
          <a:prstGeom prst="rect">
            <a:avLst/>
          </a:prstGeom>
          <a:solidFill>
            <a:srgbClr val="457B9D"/>
          </a:solidFill>
          <a:ln/>
        </p:spPr>
      </p:sp>
      <p:sp>
        <p:nvSpPr>
          <p:cNvPr id="5" name="Shape 3"/>
          <p:cNvSpPr/>
          <p:nvPr/>
        </p:nvSpPr>
        <p:spPr>
          <a:xfrm>
            <a:off x="11557513" y="310896"/>
            <a:ext cx="183383" cy="183383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6" name="Shape 4"/>
          <p:cNvSpPr/>
          <p:nvPr/>
        </p:nvSpPr>
        <p:spPr>
          <a:xfrm>
            <a:off x="11356848" y="511561"/>
            <a:ext cx="183383" cy="183383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7" name="Shape 5"/>
          <p:cNvSpPr/>
          <p:nvPr/>
        </p:nvSpPr>
        <p:spPr>
          <a:xfrm>
            <a:off x="11557513" y="511561"/>
            <a:ext cx="183383" cy="183383"/>
          </a:xfrm>
          <a:prstGeom prst="rect">
            <a:avLst/>
          </a:prstGeom>
          <a:solidFill>
            <a:srgbClr val="FCA311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463040"/>
            <a:ext cx="5486400" cy="3794760"/>
          </a:xfrm>
          <a:prstGeom prst="roundRect">
            <a:avLst>
              <a:gd name="adj" fmla="val 1928"/>
            </a:avLst>
          </a:prstGeom>
          <a:solidFill>
            <a:srgbClr val="F2F4F8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60934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&amp; verified (33+ unit tests)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13232" y="1938528"/>
            <a:ext cx="5029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4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GPU evaluator: per-net MST + prefix-sum crossings + bitmask FT — bit-matches the CPU golden on every count</a:t>
            </a:r>
            <a:endParaRPr lang="en-US" sz="1150" dirty="0"/>
          </a:p>
          <a:p>
            <a:pPr algn="l"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4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evaluate 0.16 s (adaptec1) / 1.32 s (bigblue4); 174× vs CPU on a 2M synthetic; &lt;2.5% of placement runtime</a:t>
            </a:r>
            <a:endParaRPr lang="en-US" sz="1150" dirty="0"/>
          </a:p>
          <a:p>
            <a:pPr algn="l"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4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Baselines: flat DREAMPlace + post-hoc counting; two-stage Mt-KaHyPar → greedy+2-opt region mapping → fence-constrained placement</a:t>
            </a:r>
            <a:endParaRPr lang="en-US" sz="1150" dirty="0"/>
          </a:p>
          <a:p>
            <a:pPr algn="l"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4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Net-reweighting closed loop via a 5-line DREAMPlace callback:  w = 1 + α·min(crossings, cap)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17920" y="1463040"/>
            <a:ext cx="5513832" cy="3794760"/>
          </a:xfrm>
          <a:prstGeom prst="roundRect">
            <a:avLst>
              <a:gd name="adj" fmla="val 1928"/>
            </a:avLst>
          </a:prstGeom>
          <a:solidFill>
            <a:srgbClr val="E9EEF7"/>
          </a:solidFill>
          <a:ln/>
        </p:spPr>
      </p:sp>
      <p:sp>
        <p:nvSpPr>
          <p:cNvPr id="12" name="Text 10"/>
          <p:cNvSpPr/>
          <p:nvPr/>
        </p:nvSpPr>
        <p:spPr>
          <a:xfrm>
            <a:off x="6446520" y="160934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→ next step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73952" y="1938528"/>
            <a:ext cx="5029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4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M0: two-stage IO = 1.2–1.8× flat although its min-cut bound is at or below flat → the loss sits in the “hypergraph cut → geometric tree crossings” translation. That gap is the research target.</a:t>
            </a:r>
            <a:endParaRPr lang="en-US" sz="1150" dirty="0"/>
          </a:p>
          <a:p>
            <a:pPr algn="l"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4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M1: reweighting cuts pure-FT −10% … −49% at HPWL +≈1%, but IO best −0.06% (run noise ±1%) → WL weights compress paths; they cannot flip region membership</a:t>
            </a:r>
            <a:endParaRPr lang="en-US" sz="1150" dirty="0"/>
          </a:p>
          <a:p>
            <a:pPr algn="l"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4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M2: differentiable soft membership (softmax over region distances, τ annealing) to give the “which region” decision a gradient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7200" y="54406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174×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57200" y="596188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 speedup vs CPU (2M case)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10128" y="54406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−49%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3310128" y="596188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pure-FT on bigblue4, HPWL +1%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163056" y="54406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±1%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163056" y="596188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run-to-run IO noise → multi-seed needed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015984" y="54406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&lt;2.5%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9015984" y="596188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 share of loop runtime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 · 1 / 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Exp. 1 — Designer Regions + Per-Region Commercial P&amp;R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356848" y="310896"/>
            <a:ext cx="183383" cy="183383"/>
          </a:xfrm>
          <a:prstGeom prst="rect">
            <a:avLst/>
          </a:prstGeom>
          <a:solidFill>
            <a:srgbClr val="457B9D"/>
          </a:solidFill>
          <a:ln/>
        </p:spPr>
      </p:sp>
      <p:sp>
        <p:nvSpPr>
          <p:cNvPr id="5" name="Shape 3"/>
          <p:cNvSpPr/>
          <p:nvPr/>
        </p:nvSpPr>
        <p:spPr>
          <a:xfrm>
            <a:off x="11557513" y="310896"/>
            <a:ext cx="183383" cy="183383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6" name="Shape 4"/>
          <p:cNvSpPr/>
          <p:nvPr/>
        </p:nvSpPr>
        <p:spPr>
          <a:xfrm>
            <a:off x="11356848" y="511561"/>
            <a:ext cx="183383" cy="183383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7" name="Shape 5"/>
          <p:cNvSpPr/>
          <p:nvPr/>
        </p:nvSpPr>
        <p:spPr>
          <a:xfrm>
            <a:off x="11557513" y="511561"/>
            <a:ext cx="183383" cy="183383"/>
          </a:xfrm>
          <a:prstGeom prst="rect">
            <a:avLst/>
          </a:prstGeom>
          <a:solidFill>
            <a:srgbClr val="FCA311"/>
          </a:solidFill>
          <a:ln/>
        </p:spPr>
      </p:sp>
      <p:sp>
        <p:nvSpPr>
          <p:cNvPr id="8" name="Shape 6"/>
          <p:cNvSpPr/>
          <p:nvPr/>
        </p:nvSpPr>
        <p:spPr>
          <a:xfrm>
            <a:off x="10204704" y="310896"/>
            <a:ext cx="968532" cy="310896"/>
          </a:xfrm>
          <a:prstGeom prst="roundRect">
            <a:avLst>
              <a:gd name="adj" fmla="val 14706"/>
            </a:avLst>
          </a:prstGeom>
          <a:solidFill>
            <a:srgbClr val="FCA311"/>
          </a:solidFill>
          <a:ln/>
        </p:spPr>
      </p:sp>
      <p:sp>
        <p:nvSpPr>
          <p:cNvPr id="9" name="Text 7"/>
          <p:cNvSpPr/>
          <p:nvPr/>
        </p:nvSpPr>
        <p:spPr>
          <a:xfrm>
            <a:off x="10204704" y="310896"/>
            <a:ext cx="9685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481328"/>
            <a:ext cx="5486400" cy="2834640"/>
          </a:xfrm>
          <a:prstGeom prst="roundRect">
            <a:avLst>
              <a:gd name="adj" fmla="val 2581"/>
            </a:avLst>
          </a:prstGeom>
          <a:solidFill>
            <a:srgbClr val="F2F4F8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59105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 A · Baseline — designer flow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1956816"/>
            <a:ext cx="51206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4DA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1993392"/>
            <a:ext cx="49194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 floorplan: region geometry + block→region membership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0" y="2532888"/>
            <a:ext cx="0" cy="128016"/>
          </a:xfrm>
          <a:prstGeom prst="line">
            <a:avLst/>
          </a:prstGeom>
          <a:noFill/>
          <a:ln w="22225">
            <a:solidFill>
              <a:srgbClr val="6C7688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40080" y="2670048"/>
            <a:ext cx="51206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4DA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2706624"/>
            <a:ext cx="49194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Per-region P&amp;R with Innovus (identical scripts / constraints / effort)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0" y="3246120"/>
            <a:ext cx="0" cy="128016"/>
          </a:xfrm>
          <a:prstGeom prst="line">
            <a:avLst/>
          </a:prstGeom>
          <a:noFill/>
          <a:ln w="22225">
            <a:solidFill>
              <a:srgbClr val="6C768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40080" y="3383280"/>
            <a:ext cx="51206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4DAE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3419856"/>
            <a:ext cx="49194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 → top-level metrics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45352" y="1481328"/>
            <a:ext cx="5486400" cy="2834640"/>
          </a:xfrm>
          <a:prstGeom prst="roundRect">
            <a:avLst>
              <a:gd name="adj" fmla="val 2581"/>
            </a:avLst>
          </a:prstGeom>
          <a:solidFill>
            <a:srgbClr val="F2F4F8"/>
          </a:solidFill>
          <a:ln/>
        </p:spPr>
      </p:sp>
      <p:sp>
        <p:nvSpPr>
          <p:cNvPr id="21" name="Text 19"/>
          <p:cNvSpPr/>
          <p:nvPr/>
        </p:nvSpPr>
        <p:spPr>
          <a:xfrm>
            <a:off x="6428232" y="159105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 B · Ours — membership re-decided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28232" y="1956816"/>
            <a:ext cx="5120640" cy="566928"/>
          </a:xfrm>
          <a:prstGeom prst="roundRect">
            <a:avLst>
              <a:gd name="adj" fmla="val 9677"/>
            </a:avLst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37960" y="1993392"/>
            <a:ext cx="49194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region geometry; our GPU IO-aware placement re-decides block→region membership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988552" y="2532888"/>
            <a:ext cx="0" cy="128016"/>
          </a:xfrm>
          <a:prstGeom prst="line">
            <a:avLst/>
          </a:prstGeom>
          <a:noFill/>
          <a:ln w="22225">
            <a:solidFill>
              <a:srgbClr val="6C7688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428232" y="2670048"/>
            <a:ext cx="51206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4DAE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37960" y="2706624"/>
            <a:ext cx="49194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Per-region P&amp;R with Innovus (identical scripts / constraints / effort)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988552" y="3246120"/>
            <a:ext cx="0" cy="128016"/>
          </a:xfrm>
          <a:prstGeom prst="line">
            <a:avLst/>
          </a:prstGeom>
          <a:noFill/>
          <a:ln w="22225">
            <a:solidFill>
              <a:srgbClr val="6C7688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428232" y="3383280"/>
            <a:ext cx="51206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4DAE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37960" y="3419856"/>
            <a:ext cx="49194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 → top-level metrics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4526280"/>
            <a:ext cx="11274552" cy="658368"/>
          </a:xfrm>
          <a:prstGeom prst="roundRect">
            <a:avLst>
              <a:gd name="adj" fmla="val 8333"/>
            </a:avLst>
          </a:prstGeom>
          <a:solidFill>
            <a:srgbClr val="E9EEF7"/>
          </a:solidFill>
          <a:ln/>
        </p:spPr>
      </p:sp>
      <p:sp>
        <p:nvSpPr>
          <p:cNvPr id="31" name="Text 29"/>
          <p:cNvSpPr/>
          <p:nvPr/>
        </p:nvSpPr>
        <p:spPr>
          <a:xfrm>
            <a:off x="685800" y="459028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 fixed across arms:  </a:t>
            </a:r>
            <a:pPr indent="0" marL="0">
              <a:buNone/>
            </a:pPr>
            <a:r>
              <a:rPr lang="en-US" sz="1100" dirty="0">
                <a:solidFill>
                  <a:srgbClr val="34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geometry (byte-identical) · tech/LEF/lib/SDC · Innovus version, scripts, effort, seeds · per-region utilization caps · the same IO/FT evaluator for both arms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02920" y="534924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Compare:  </a:t>
            </a:r>
            <a:pPr indent="0" marL="0">
              <a:buNone/>
            </a:pPr>
            <a:r>
              <a:rPr lang="en-US" sz="1150" dirty="0">
                <a:solidFill>
                  <a:srgbClr val="34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routed WL · WNS / TNS · # feed-through nets &amp; ports · top-channel congestion / DRC · per-region utilization · turnaround time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02920" y="576072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C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Needs: a testcase with a real designer floorplan + Innovus access. Worth adding a third arm — IO-agnostic assignment (greedy+2-opt) — to isolate “IO-aware” from “any optimization”.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 · 2 / 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Exp. 2 — vs Region-Oblivious Flat DREAMPlace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356848" y="310896"/>
            <a:ext cx="183383" cy="183383"/>
          </a:xfrm>
          <a:prstGeom prst="rect">
            <a:avLst/>
          </a:prstGeom>
          <a:solidFill>
            <a:srgbClr val="457B9D"/>
          </a:solidFill>
          <a:ln/>
        </p:spPr>
      </p:sp>
      <p:sp>
        <p:nvSpPr>
          <p:cNvPr id="5" name="Shape 3"/>
          <p:cNvSpPr/>
          <p:nvPr/>
        </p:nvSpPr>
        <p:spPr>
          <a:xfrm>
            <a:off x="11557513" y="310896"/>
            <a:ext cx="183383" cy="183383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6" name="Shape 4"/>
          <p:cNvSpPr/>
          <p:nvPr/>
        </p:nvSpPr>
        <p:spPr>
          <a:xfrm>
            <a:off x="11356848" y="511561"/>
            <a:ext cx="183383" cy="183383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7" name="Shape 5"/>
          <p:cNvSpPr/>
          <p:nvPr/>
        </p:nvSpPr>
        <p:spPr>
          <a:xfrm>
            <a:off x="11557513" y="511561"/>
            <a:ext cx="183383" cy="183383"/>
          </a:xfrm>
          <a:prstGeom prst="rect">
            <a:avLst/>
          </a:prstGeom>
          <a:solidFill>
            <a:srgbClr val="FCA311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417320"/>
            <a:ext cx="3557016" cy="868680"/>
          </a:xfrm>
          <a:prstGeom prst="roundRect">
            <a:avLst>
              <a:gd name="adj" fmla="val 8421"/>
            </a:avLst>
          </a:prstGeom>
          <a:solidFill>
            <a:srgbClr val="F2F4F8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" y="150876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DREAMPlace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21792" y="17830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region knowledge; post-hoc IO/FT counting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15968" y="1417320"/>
            <a:ext cx="3557016" cy="868680"/>
          </a:xfrm>
          <a:prstGeom prst="roundRect">
            <a:avLst>
              <a:gd name="adj" fmla="val 8421"/>
            </a:avLst>
          </a:prstGeom>
          <a:solidFill>
            <a:srgbClr val="F2F4F8"/>
          </a:solidFill>
          <a:ln/>
        </p:spPr>
      </p:sp>
      <p:sp>
        <p:nvSpPr>
          <p:cNvPr id="12" name="Text 10"/>
          <p:cNvSpPr/>
          <p:nvPr/>
        </p:nvSpPr>
        <p:spPr>
          <a:xfrm>
            <a:off x="4480560" y="150876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480560" y="17830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Mt-KaHyPar partition → fence-constrained placement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174736" y="1417320"/>
            <a:ext cx="3557016" cy="868680"/>
          </a:xfrm>
          <a:prstGeom prst="roundRect">
            <a:avLst>
              <a:gd name="adj" fmla="val 8421"/>
            </a:avLst>
          </a:prstGeom>
          <a:solidFill>
            <a:srgbClr val="14213D"/>
          </a:solidFill>
          <a:ln/>
        </p:spPr>
      </p:sp>
      <p:sp>
        <p:nvSpPr>
          <p:cNvPr id="15" name="Text 13"/>
          <p:cNvSpPr/>
          <p:nvPr/>
        </p:nvSpPr>
        <p:spPr>
          <a:xfrm>
            <a:off x="8339328" y="150876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339328" y="17830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IO-aware GP (M1 reweighting → M2 differentiable)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2514600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Preliminary (bigblue4, K=16 grid, single seed — M1 reweighting only)</a:t>
            </a:r>
            <a:endParaRPr lang="en-US" sz="12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816352"/>
          <a:ext cx="87782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554480"/>
                <a:gridCol w="1645920"/>
                <a:gridCol w="1645920"/>
                <a:gridCol w="164592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two-stage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ours (M1)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 vs flat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 count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43D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100,108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43D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178,594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43D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100,736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43D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+0.6%  (≈ noise)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Pure feed-throughs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43D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7,045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43D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77,899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7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3,585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7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−49.1%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HPWL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43D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748.5 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43D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4,459.8 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43D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756.2 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43D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Runtime (s)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43D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43D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3,738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43D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43D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9464040" y="2816352"/>
            <a:ext cx="2267712" cy="1828800"/>
          </a:xfrm>
          <a:prstGeom prst="roundRect">
            <a:avLst>
              <a:gd name="adj" fmla="val 4000"/>
            </a:avLst>
          </a:prstGeom>
          <a:solidFill>
            <a:srgbClr val="E9EEF7"/>
          </a:solidFill>
          <a:ln/>
        </p:spPr>
      </p:sp>
      <p:sp>
        <p:nvSpPr>
          <p:cNvPr id="20" name="Text 17"/>
          <p:cNvSpPr/>
          <p:nvPr/>
        </p:nvSpPr>
        <p:spPr>
          <a:xfrm>
            <a:off x="9646920" y="292608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with care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9646920" y="3200400"/>
            <a:ext cx="1965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4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seed; IO noise ≈ ±1%</a:t>
            </a:r>
            <a:endParaRPr lang="en-US" sz="950" dirty="0"/>
          </a:p>
          <a:p>
            <a:pPr algn="l"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4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reweighting only — M2 differentiable membership is the lever for IO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502920" y="4937760"/>
            <a:ext cx="11155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4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Protocol: scales 1M → 30M × K ∈ {8,16,32} × {grid, rectilinear}; ≥3 seeds at 1M; identical configs &amp; iteration budgets across arms; regions frozen before any run</a:t>
            </a:r>
            <a:endParaRPr lang="en-US" sz="1100" dirty="0"/>
          </a:p>
          <a:p>
            <a:pPr algn="l" marL="127000" indent="-1270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4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Fairness: co-report HPWL / runtime / memory (never IO alone); report the full λ-sweep Pareto, not a single tuned point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Are, and What We Need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1600200"/>
            <a:ext cx="107899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work: feed-through optimization is hot in 2025–26 (GrandPlan, FTAFP, Flora) — but all module-granularity or wirelength-based; the count-based, cell-level, fixed-region formulation is open</a:t>
            </a:r>
            <a:endParaRPr lang="en-US" sz="1350" dirty="0"/>
          </a:p>
          <a:p>
            <a:pPr algn="l" marL="127000" indent="-1270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ladder 1M → 30M defined; 10M ISPD'25 mempool_cluster already on disk; Rent-exponent realism gate for every augmented case</a:t>
            </a:r>
            <a:endParaRPr lang="en-US" sz="1350" dirty="0"/>
          </a:p>
          <a:p>
            <a:pPr algn="l" marL="127000" indent="-1270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 + M1 complete: exact GPU evaluator (174×, &lt;2.5% overhead); negative reweighting result diagnosed → M2 differentiable membership is the next lever</a:t>
            </a:r>
            <a:endParaRPr lang="en-US" sz="1350" dirty="0"/>
          </a:p>
          <a:p>
            <a:pPr algn="l" marL="127000" indent="-1270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experiment tracks specified: designer regions + per-region Innovus P&amp;R (membership swap only), and region-oblivious flat DREAMPlace with a frozen-region, multi-seed, Pareto protocol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489204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1D2C52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5029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534924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testcase with a real designer floorplan + Innovus access (Experiment 1)</a:t>
            </a:r>
            <a:endParaRPr lang="en-US" sz="1200" dirty="0"/>
          </a:p>
          <a:p>
            <a:pPr algn="l" marL="127000" indent="-1270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H100 allocation for the M4 scale-up runs (10M / 30M)</a:t>
            </a:r>
            <a:endParaRPr lang="en-US" sz="1200" dirty="0"/>
          </a:p>
          <a:p>
            <a:pPr algn="l" marL="127000" indent="-1270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on the benchmark-credibility plan: region sources, multi-seed budget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7A9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IO-Aware Top-Level Placement - Progress Report 2026-08</dc:title>
  <dc:subject>PptxGenJS Presentation</dc:subject>
  <dc:creator>IO-Aware Top-Level Placer</dc:creator>
  <cp:lastModifiedBy>IO-Aware Top-Level Placer</cp:lastModifiedBy>
  <cp:revision>1</cp:revision>
  <dcterms:created xsi:type="dcterms:W3CDTF">2026-08-10T03:35:44Z</dcterms:created>
  <dcterms:modified xsi:type="dcterms:W3CDTF">2026-08-10T03:35:44Z</dcterms:modified>
</cp:coreProperties>
</file>